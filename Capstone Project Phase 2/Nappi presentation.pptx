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89" r:id="rId4"/>
    <p:sldId id="260" r:id="rId5"/>
    <p:sldId id="302" r:id="rId6"/>
    <p:sldId id="276" r:id="rId7"/>
    <p:sldId id="287" r:id="rId8"/>
    <p:sldId id="288" r:id="rId9"/>
    <p:sldId id="282" r:id="rId10"/>
    <p:sldId id="292" r:id="rId11"/>
    <p:sldId id="295" r:id="rId12"/>
    <p:sldId id="290" r:id="rId13"/>
    <p:sldId id="296" r:id="rId14"/>
    <p:sldId id="297" r:id="rId15"/>
    <p:sldId id="298" r:id="rId16"/>
    <p:sldId id="286" r:id="rId17"/>
    <p:sldId id="300" r:id="rId18"/>
    <p:sldId id="281" r:id="rId19"/>
    <p:sldId id="301" r:id="rId20"/>
    <p:sldId id="270" r:id="rId21"/>
  </p:sldIdLst>
  <p:sldSz cx="18288000" cy="10287000"/>
  <p:notesSz cx="6858000" cy="9144000"/>
  <p:embeddedFontLs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Bold" panose="020B0604020202020204" charset="0"/>
      <p:regular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Poppins Bold" panose="00000800000000000000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5C40"/>
    <a:srgbClr val="EAD6B8"/>
    <a:srgbClr val="BCA3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416" autoAdjust="0"/>
  </p:normalViewPr>
  <p:slideViewPr>
    <p:cSldViewPr>
      <p:cViewPr varScale="1">
        <p:scale>
          <a:sx n="64" d="100"/>
          <a:sy n="64" d="100"/>
        </p:scale>
        <p:origin x="11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F84A5-3351-4DE1-9CAC-2B320ECE5C76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E38A8-ECC2-449F-ABD7-8D0EEA587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7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60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60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8C136-F85D-433F-8B53-CD68A24C4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341CB-6521-B4CF-771B-EE400C85A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EBAD6-2B33-7E49-542A-220E836EC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e-IL" dirty="0"/>
              <a:t>עופר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A0616-2FF9-D52B-6660-39EADA215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0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E279-BC3D-2AE3-F32F-69C2949E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D920F-1736-FB21-C483-EE1468A32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97871-7A03-9834-4B3D-16946557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2EEB6-0A36-AE78-5C7E-7F5E15E2E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51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48E4-C6D3-7EC7-F1D6-941C558B6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53A0F-096B-64D9-DC2F-E9146D569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01CF6-D47D-9EE9-941F-33C0D1F8F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A157A-9A57-388F-4389-DA92A0681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e-IL" dirty="0"/>
              <a:t>עופר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29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BAFF-A597-D0F5-2FB4-1A52C1F7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88DDF-57E8-52A8-5041-AA23613BF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71AE8-5388-DF43-3638-F23DFE45F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1A70-0782-B1E8-E099-A2817D9A1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9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8326-D17D-033C-EE53-5782A5B8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FFBE8-673C-FEF2-5852-5E391DE90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91364-83D2-AABE-847F-691D61FA9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עופר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B0F52-EE00-1FC9-CFF6-3669E7CBB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92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F579-3FE2-1E61-0F13-3987FF2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DFD6D-314C-440A-00EF-AC9FAEB08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EAEEF-C3AE-7BF3-22F2-08D42CCCA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268E7-2BAA-3745-AE09-2C6EBFB8B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78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B952-D9D5-2BE7-EB6E-3BBE876C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CF2E7-9B71-D7BD-74E1-84FF718C9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103AA-EEC3-01D4-C692-C583BD86C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D108C-CB5D-D442-E610-EFDE9E8E1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89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A32D0-7EBC-BE98-A0F1-7BAAE433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B6253-8CED-F718-41BA-0A82ABE59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B4966-96BB-7A9D-582D-4D3FFACF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6B09B-BFB1-3AC1-AB96-45D0434E8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7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9A1D-27CB-CBD8-3703-2F437AA8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A659E-C853-B236-721E-71A0C0F57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72549-9D7D-BF31-CC4B-F485B79C2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35F1F-826C-36BA-A781-1E306EBA7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2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49D-EB9C-8B3E-E3D4-C33C8A1D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2103F-A0E5-B43C-9929-D4F25A100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067D7-0207-3CF7-C6FD-B10671D75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e-IL" sz="1200" u="sng" dirty="0">
                <a:latin typeface="Inter" panose="020B0604020202020204" charset="0"/>
                <a:ea typeface="Inter" panose="020B0604020202020204" charset="0"/>
              </a:rPr>
              <a:t>אורן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D9E39-40FE-0071-A0A9-5F087AA1C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80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2588-BFB8-0D95-2F8D-09FF6A03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DBD1F-9AEB-FAC2-C76E-DDF28F35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65BFE-BDF4-6195-F57B-E3609F60A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B3A0A-318B-3CB6-BDED-BC21FE637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26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97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1E58-8E9B-737B-02AE-DFC12CD0B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91C19-96BA-3EA0-746D-6FC353E86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A6A79-0373-6813-AD61-5E619B78F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אורן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78E6-68B5-5E24-60D1-0DAA22162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32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אורן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E38A8-ECC2-449F-ABD7-8D0EEA5875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2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424D-3FF2-400C-B99B-94984568ACB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B87D-2CD9-43A9-AC74-AB3A26FE2596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F920-EAE2-44E2-986A-46CE003C000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CA23-1A83-4179-A286-646161E6E57C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C0504-BF95-4FC7-9A38-8D571C0712A5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8303-FA31-49FD-9167-0677644F94CB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A34E-0053-4B1B-AF86-63F268D11B20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76200" y="9715500"/>
            <a:ext cx="609600" cy="571500"/>
          </a:xfrm>
        </p:spPr>
        <p:txBody>
          <a:bodyPr/>
          <a:lstStyle>
            <a:lvl1pPr>
              <a:defRPr sz="2400"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849F2-89B5-4C89-BC19-ED109886B0E9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8B47-97CB-4776-BE4B-7DBCA8F924B2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6E531-A705-4A20-8F5A-4AF479AD597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D1DC-9F49-4BE4-A2F5-ED655D71257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19F66-C1D1-41DC-81B7-15710DF15E69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w7cq_y1-RJS_uSfeAakNwZeqerjP_RM0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5F4A7E-01D3-3E1E-4998-B97C5813F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861"/>
          <a:stretch>
            <a:fillRect/>
          </a:stretch>
        </p:blipFill>
        <p:spPr>
          <a:xfrm>
            <a:off x="15207460" y="7365373"/>
            <a:ext cx="2834886" cy="2921627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771519" y="2282576"/>
            <a:ext cx="732467" cy="686553"/>
          </a:xfrm>
          <a:custGeom>
            <a:avLst/>
            <a:gdLst/>
            <a:ahLst/>
            <a:cxnLst/>
            <a:rect l="l" t="t" r="r" b="b"/>
            <a:pathLst>
              <a:path w="732467" h="686553">
                <a:moveTo>
                  <a:pt x="0" y="0"/>
                </a:moveTo>
                <a:lnTo>
                  <a:pt x="732467" y="0"/>
                </a:lnTo>
                <a:lnTo>
                  <a:pt x="732467" y="686553"/>
                </a:lnTo>
                <a:lnTo>
                  <a:pt x="0" y="68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516133"/>
            <a:ext cx="1028700" cy="3338071"/>
            <a:chOff x="0" y="0"/>
            <a:chExt cx="929559" cy="879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559" cy="879163"/>
            </a:xfrm>
            <a:custGeom>
              <a:avLst/>
              <a:gdLst/>
              <a:ahLst/>
              <a:cxnLst/>
              <a:rect l="l" t="t" r="r" b="b"/>
              <a:pathLst>
                <a:path w="929559" h="879163">
                  <a:moveTo>
                    <a:pt x="0" y="0"/>
                  </a:moveTo>
                  <a:lnTo>
                    <a:pt x="929559" y="0"/>
                  </a:lnTo>
                  <a:lnTo>
                    <a:pt x="929559" y="879163"/>
                  </a:lnTo>
                  <a:lnTo>
                    <a:pt x="0" y="879163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29559" cy="92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1519" y="2959362"/>
            <a:ext cx="13435941" cy="3079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Poppins Bold"/>
              </a:rPr>
              <a:t>Nappi – Digital Twin Platform For infant sleep monitoring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45549" y="2332383"/>
            <a:ext cx="5600620" cy="51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7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/>
                <a:ea typeface="Inter"/>
                <a:cs typeface="Inter"/>
                <a:sym typeface="Inter"/>
              </a:rPr>
              <a:t>Capstone Phase B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4266450B-62E0-6A73-856E-E5DFB585239C}"/>
              </a:ext>
            </a:extLst>
          </p:cNvPr>
          <p:cNvSpPr txBox="1"/>
          <p:nvPr/>
        </p:nvSpPr>
        <p:spPr>
          <a:xfrm>
            <a:off x="1761580" y="7050758"/>
            <a:ext cx="5096420" cy="199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/>
                <a:ea typeface="Inter"/>
                <a:cs typeface="Inter"/>
                <a:sym typeface="Inter"/>
              </a:rPr>
              <a:t>Project Code: 25-2-D-22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/>
                <a:ea typeface="Inter"/>
                <a:cs typeface="Inter"/>
                <a:sym typeface="Inter"/>
              </a:rPr>
              <a:t>Oran Efroni &amp; Ofer Elzara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/>
                <a:ea typeface="Inter"/>
                <a:cs typeface="Inter"/>
                <a:sym typeface="Inter"/>
              </a:rPr>
              <a:t>Supervisor – Mr. Uzi Rozen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6F0FC4-8076-A861-9523-201D741B3E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00" y="1104900"/>
            <a:ext cx="4140000" cy="981395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3C9AC5C-5028-7148-4EAB-BE7937C7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406820-F5AE-C4C3-4170-8CB1A81B59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804"/>
          <a:stretch>
            <a:fillRect/>
          </a:stretch>
        </p:blipFill>
        <p:spPr>
          <a:xfrm>
            <a:off x="14581350" y="0"/>
            <a:ext cx="3249450" cy="5940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025320" y="3275637"/>
            <a:ext cx="4233980" cy="7011363"/>
            <a:chOff x="0" y="0"/>
            <a:chExt cx="1115122" cy="23526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5122" cy="2352652"/>
            </a:xfrm>
            <a:custGeom>
              <a:avLst/>
              <a:gdLst/>
              <a:ahLst/>
              <a:cxnLst/>
              <a:rect l="l" t="t" r="r" b="b"/>
              <a:pathLst>
                <a:path w="1115122" h="2352652">
                  <a:moveTo>
                    <a:pt x="0" y="0"/>
                  </a:moveTo>
                  <a:lnTo>
                    <a:pt x="1115122" y="0"/>
                  </a:lnTo>
                  <a:lnTo>
                    <a:pt x="1115122" y="2352652"/>
                  </a:lnTo>
                  <a:lnTo>
                    <a:pt x="0" y="235265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15122" cy="2400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701881"/>
            <a:ext cx="1646576" cy="5167289"/>
            <a:chOff x="0" y="0"/>
            <a:chExt cx="1115122" cy="1360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5122" cy="1360932"/>
            </a:xfrm>
            <a:custGeom>
              <a:avLst/>
              <a:gdLst/>
              <a:ahLst/>
              <a:cxnLst/>
              <a:rect l="l" t="t" r="r" b="b"/>
              <a:pathLst>
                <a:path w="1115122" h="1360932">
                  <a:moveTo>
                    <a:pt x="0" y="0"/>
                  </a:moveTo>
                  <a:lnTo>
                    <a:pt x="1115122" y="0"/>
                  </a:lnTo>
                  <a:lnTo>
                    <a:pt x="1115122" y="1360932"/>
                  </a:lnTo>
                  <a:lnTo>
                    <a:pt x="0" y="1360932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15122" cy="14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03228" y="2422871"/>
            <a:ext cx="5246370" cy="6130348"/>
            <a:chOff x="0" y="0"/>
            <a:chExt cx="812800" cy="9497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949751"/>
            </a:xfrm>
            <a:custGeom>
              <a:avLst/>
              <a:gdLst/>
              <a:ahLst/>
              <a:cxnLst/>
              <a:rect l="l" t="t" r="r" b="b"/>
              <a:pathLst>
                <a:path w="812800" h="949751">
                  <a:moveTo>
                    <a:pt x="0" y="0"/>
                  </a:moveTo>
                  <a:lnTo>
                    <a:pt x="812800" y="0"/>
                  </a:lnTo>
                  <a:lnTo>
                    <a:pt x="812800" y="949751"/>
                  </a:lnTo>
                  <a:lnTo>
                    <a:pt x="0" y="949751"/>
                  </a:lnTo>
                  <a:close/>
                </a:path>
              </a:pathLst>
            </a:custGeom>
            <a:blipFill>
              <a:blip r:embed="rId3"/>
              <a:stretch>
                <a:fillRect t="-3487" b="-3487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14400" y="153131"/>
            <a:ext cx="84201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D2D7F-ED52-3685-41FC-C3D5CFA7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CED76CE-95E6-CE8D-7FED-05F18C0336FB}"/>
              </a:ext>
            </a:extLst>
          </p:cNvPr>
          <p:cNvGrpSpPr/>
          <p:nvPr/>
        </p:nvGrpSpPr>
        <p:grpSpPr>
          <a:xfrm>
            <a:off x="2691750" y="1449645"/>
            <a:ext cx="505200" cy="483336"/>
            <a:chOff x="2810204" y="1739970"/>
            <a:chExt cx="505200" cy="483336"/>
          </a:xfrm>
        </p:grpSpPr>
        <p:sp>
          <p:nvSpPr>
            <p:cNvPr id="12" name="Freeform 12"/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579096" y="1406271"/>
            <a:ext cx="4057443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Problem &amp; Motivation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79095" y="2080059"/>
            <a:ext cx="40574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System Overview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EE3038-C97D-E9C5-2788-DC233A8A270F}"/>
              </a:ext>
            </a:extLst>
          </p:cNvPr>
          <p:cNvGrpSpPr/>
          <p:nvPr/>
        </p:nvGrpSpPr>
        <p:grpSpPr>
          <a:xfrm>
            <a:off x="2691750" y="2033775"/>
            <a:ext cx="505200" cy="483336"/>
            <a:chOff x="2810204" y="1739970"/>
            <a:chExt cx="505200" cy="483336"/>
          </a:xfrm>
        </p:grpSpPr>
        <p:sp>
          <p:nvSpPr>
            <p:cNvPr id="69" name="Freeform 12">
              <a:extLst>
                <a:ext uri="{FF2B5EF4-FFF2-40B4-BE49-F238E27FC236}">
                  <a16:creationId xmlns:a16="http://schemas.microsoft.com/office/drawing/2014/main" id="{711F7190-1EDC-97BF-F76B-E7E65C145930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0" name="TextBox 13">
              <a:extLst>
                <a:ext uri="{FF2B5EF4-FFF2-40B4-BE49-F238E27FC236}">
                  <a16:creationId xmlns:a16="http://schemas.microsoft.com/office/drawing/2014/main" id="{88C8C0D2-C21F-2C96-3A79-765B42DD255B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4CCCF95-A98E-C05D-5EA0-42EC7BCDFE5D}"/>
              </a:ext>
            </a:extLst>
          </p:cNvPr>
          <p:cNvGrpSpPr/>
          <p:nvPr/>
        </p:nvGrpSpPr>
        <p:grpSpPr>
          <a:xfrm>
            <a:off x="2689368" y="2606773"/>
            <a:ext cx="505200" cy="483336"/>
            <a:chOff x="2810204" y="1739970"/>
            <a:chExt cx="505200" cy="483336"/>
          </a:xfrm>
        </p:grpSpPr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3D467979-429A-8ABB-3C05-C56F5EBB0764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80" name="TextBox 13">
              <a:extLst>
                <a:ext uri="{FF2B5EF4-FFF2-40B4-BE49-F238E27FC236}">
                  <a16:creationId xmlns:a16="http://schemas.microsoft.com/office/drawing/2014/main" id="{00F33D25-900B-A5E5-E55F-B42474357224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sp>
        <p:nvSpPr>
          <p:cNvPr id="74" name="TextBox 19">
            <a:extLst>
              <a:ext uri="{FF2B5EF4-FFF2-40B4-BE49-F238E27FC236}">
                <a16:creationId xmlns:a16="http://schemas.microsoft.com/office/drawing/2014/main" id="{68D46F70-93E0-C883-927A-FA47C32FCA67}"/>
              </a:ext>
            </a:extLst>
          </p:cNvPr>
          <p:cNvSpPr txBox="1"/>
          <p:nvPr/>
        </p:nvSpPr>
        <p:spPr>
          <a:xfrm>
            <a:off x="3576714" y="3162300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Four-Tier Architecture</a:t>
            </a:r>
          </a:p>
        </p:txBody>
      </p:sp>
      <p:sp>
        <p:nvSpPr>
          <p:cNvPr id="75" name="TextBox 20">
            <a:extLst>
              <a:ext uri="{FF2B5EF4-FFF2-40B4-BE49-F238E27FC236}">
                <a16:creationId xmlns:a16="http://schemas.microsoft.com/office/drawing/2014/main" id="{B7B9C46B-B971-8A3B-B906-970AC29AF75A}"/>
              </a:ext>
            </a:extLst>
          </p:cNvPr>
          <p:cNvSpPr txBox="1"/>
          <p:nvPr/>
        </p:nvSpPr>
        <p:spPr>
          <a:xfrm>
            <a:off x="3576713" y="3836088"/>
            <a:ext cx="40574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Essential Requirements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4F9DA30-0AAC-CA59-CD9F-AB0240FEC5B9}"/>
              </a:ext>
            </a:extLst>
          </p:cNvPr>
          <p:cNvGrpSpPr/>
          <p:nvPr/>
        </p:nvGrpSpPr>
        <p:grpSpPr>
          <a:xfrm>
            <a:off x="2689368" y="3190903"/>
            <a:ext cx="505200" cy="483336"/>
            <a:chOff x="2810204" y="1739970"/>
            <a:chExt cx="505200" cy="483336"/>
          </a:xfrm>
        </p:grpSpPr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9DA03FE8-3042-EA0F-8CFF-67BFF2D7A54A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78" name="TextBox 13">
              <a:extLst>
                <a:ext uri="{FF2B5EF4-FFF2-40B4-BE49-F238E27FC236}">
                  <a16:creationId xmlns:a16="http://schemas.microsoft.com/office/drawing/2014/main" id="{FBCB118D-E936-F695-3062-56260C7E22FE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CF88C62-5F51-4E49-A9CC-BE297E4624AD}"/>
              </a:ext>
            </a:extLst>
          </p:cNvPr>
          <p:cNvGrpSpPr/>
          <p:nvPr/>
        </p:nvGrpSpPr>
        <p:grpSpPr>
          <a:xfrm>
            <a:off x="2691750" y="3770251"/>
            <a:ext cx="505200" cy="483336"/>
            <a:chOff x="2810204" y="1739970"/>
            <a:chExt cx="505200" cy="483336"/>
          </a:xfrm>
        </p:grpSpPr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D4540253-25E0-2C4E-27E3-7B4766D1D86B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04" name="TextBox 13">
              <a:extLst>
                <a:ext uri="{FF2B5EF4-FFF2-40B4-BE49-F238E27FC236}">
                  <a16:creationId xmlns:a16="http://schemas.microsoft.com/office/drawing/2014/main" id="{0D860AA6-7A02-7D1A-7262-D09A522A42B9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</a:t>
              </a:r>
            </a:p>
          </p:txBody>
        </p:sp>
      </p:grpSp>
      <p:sp>
        <p:nvSpPr>
          <p:cNvPr id="98" name="TextBox 19">
            <a:extLst>
              <a:ext uri="{FF2B5EF4-FFF2-40B4-BE49-F238E27FC236}">
                <a16:creationId xmlns:a16="http://schemas.microsoft.com/office/drawing/2014/main" id="{389AC013-F3CD-78E9-D1CF-47F56CE4EADB}"/>
              </a:ext>
            </a:extLst>
          </p:cNvPr>
          <p:cNvSpPr txBox="1"/>
          <p:nvPr/>
        </p:nvSpPr>
        <p:spPr>
          <a:xfrm>
            <a:off x="3579096" y="4325778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IoT Edge Device</a:t>
            </a:r>
          </a:p>
        </p:txBody>
      </p:sp>
      <p:sp>
        <p:nvSpPr>
          <p:cNvPr id="99" name="TextBox 20">
            <a:extLst>
              <a:ext uri="{FF2B5EF4-FFF2-40B4-BE49-F238E27FC236}">
                <a16:creationId xmlns:a16="http://schemas.microsoft.com/office/drawing/2014/main" id="{5EDFCCF4-A452-FCAA-973F-8B54E697B3FD}"/>
              </a:ext>
            </a:extLst>
          </p:cNvPr>
          <p:cNvSpPr txBox="1"/>
          <p:nvPr/>
        </p:nvSpPr>
        <p:spPr>
          <a:xfrm>
            <a:off x="3579095" y="4999566"/>
            <a:ext cx="40574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Real-Time Alerting System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5C379D5-CE38-ACF8-697D-4DA15E9734D7}"/>
              </a:ext>
            </a:extLst>
          </p:cNvPr>
          <p:cNvGrpSpPr/>
          <p:nvPr/>
        </p:nvGrpSpPr>
        <p:grpSpPr>
          <a:xfrm>
            <a:off x="2691750" y="4354381"/>
            <a:ext cx="505200" cy="483336"/>
            <a:chOff x="2810204" y="1739970"/>
            <a:chExt cx="505200" cy="483336"/>
          </a:xfrm>
        </p:grpSpPr>
        <p:sp>
          <p:nvSpPr>
            <p:cNvPr id="101" name="Freeform 12">
              <a:extLst>
                <a:ext uri="{FF2B5EF4-FFF2-40B4-BE49-F238E27FC236}">
                  <a16:creationId xmlns:a16="http://schemas.microsoft.com/office/drawing/2014/main" id="{CA19ADF7-A574-58C6-CA9A-7A8D235A5FF5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02" name="TextBox 13">
              <a:extLst>
                <a:ext uri="{FF2B5EF4-FFF2-40B4-BE49-F238E27FC236}">
                  <a16:creationId xmlns:a16="http://schemas.microsoft.com/office/drawing/2014/main" id="{1C92ABFF-43D2-280B-9AE6-ED56AD4C938D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6A57EB8-99C7-42E0-FDA3-81D4786499E1}"/>
              </a:ext>
            </a:extLst>
          </p:cNvPr>
          <p:cNvGrpSpPr/>
          <p:nvPr/>
        </p:nvGrpSpPr>
        <p:grpSpPr>
          <a:xfrm>
            <a:off x="2689368" y="4927379"/>
            <a:ext cx="505200" cy="483336"/>
            <a:chOff x="2810204" y="1739970"/>
            <a:chExt cx="505200" cy="483336"/>
          </a:xfrm>
        </p:grpSpPr>
        <p:sp>
          <p:nvSpPr>
            <p:cNvPr id="95" name="Freeform 12">
              <a:extLst>
                <a:ext uri="{FF2B5EF4-FFF2-40B4-BE49-F238E27FC236}">
                  <a16:creationId xmlns:a16="http://schemas.microsoft.com/office/drawing/2014/main" id="{F017B4A1-08B7-1890-1D57-0CCFCC28BB14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96" name="TextBox 13">
              <a:extLst>
                <a:ext uri="{FF2B5EF4-FFF2-40B4-BE49-F238E27FC236}">
                  <a16:creationId xmlns:a16="http://schemas.microsoft.com/office/drawing/2014/main" id="{0FDB10B2-9742-E1CC-8047-A9FF2F9E27C5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</a:t>
              </a:r>
            </a:p>
          </p:txBody>
        </p:sp>
      </p:grpSp>
      <p:sp>
        <p:nvSpPr>
          <p:cNvPr id="90" name="TextBox 19">
            <a:extLst>
              <a:ext uri="{FF2B5EF4-FFF2-40B4-BE49-F238E27FC236}">
                <a16:creationId xmlns:a16="http://schemas.microsoft.com/office/drawing/2014/main" id="{480CC62F-FBDD-2AD2-D6E4-8DDC5998B631}"/>
              </a:ext>
            </a:extLst>
          </p:cNvPr>
          <p:cNvSpPr txBox="1"/>
          <p:nvPr/>
        </p:nvSpPr>
        <p:spPr>
          <a:xfrm>
            <a:off x="3576714" y="5482906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Key Backend Services</a:t>
            </a:r>
          </a:p>
        </p:txBody>
      </p:sp>
      <p:sp>
        <p:nvSpPr>
          <p:cNvPr id="91" name="TextBox 20">
            <a:extLst>
              <a:ext uri="{FF2B5EF4-FFF2-40B4-BE49-F238E27FC236}">
                <a16:creationId xmlns:a16="http://schemas.microsoft.com/office/drawing/2014/main" id="{5F4BCE9A-44CD-70B6-17EE-2B302AAAA304}"/>
              </a:ext>
            </a:extLst>
          </p:cNvPr>
          <p:cNvSpPr txBox="1"/>
          <p:nvPr/>
        </p:nvSpPr>
        <p:spPr>
          <a:xfrm>
            <a:off x="3576713" y="6156694"/>
            <a:ext cx="488148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Awakening Correlation Analysis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4479D15-48D9-7636-F537-0F971DE8855B}"/>
              </a:ext>
            </a:extLst>
          </p:cNvPr>
          <p:cNvGrpSpPr/>
          <p:nvPr/>
        </p:nvGrpSpPr>
        <p:grpSpPr>
          <a:xfrm>
            <a:off x="2689368" y="5511509"/>
            <a:ext cx="505200" cy="483336"/>
            <a:chOff x="2810204" y="1739970"/>
            <a:chExt cx="505200" cy="483336"/>
          </a:xfrm>
        </p:grpSpPr>
        <p:sp>
          <p:nvSpPr>
            <p:cNvPr id="93" name="Freeform 12">
              <a:extLst>
                <a:ext uri="{FF2B5EF4-FFF2-40B4-BE49-F238E27FC236}">
                  <a16:creationId xmlns:a16="http://schemas.microsoft.com/office/drawing/2014/main" id="{EE460B53-F0B5-5576-53F6-35088D513FCB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94" name="TextBox 13">
              <a:extLst>
                <a:ext uri="{FF2B5EF4-FFF2-40B4-BE49-F238E27FC236}">
                  <a16:creationId xmlns:a16="http://schemas.microsoft.com/office/drawing/2014/main" id="{0CFDCBC0-8025-F752-DD5D-765C2C33E74F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12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C53231-93A2-64D3-8883-2DFAAB1919AE}"/>
              </a:ext>
            </a:extLst>
          </p:cNvPr>
          <p:cNvGrpSpPr/>
          <p:nvPr/>
        </p:nvGrpSpPr>
        <p:grpSpPr>
          <a:xfrm>
            <a:off x="2689367" y="6090857"/>
            <a:ext cx="505200" cy="483336"/>
            <a:chOff x="2810204" y="1739970"/>
            <a:chExt cx="505200" cy="483336"/>
          </a:xfrm>
        </p:grpSpPr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B16C76FB-BE3C-0D7F-6B66-1DB290D5FF78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44" name="TextBox 13">
              <a:extLst>
                <a:ext uri="{FF2B5EF4-FFF2-40B4-BE49-F238E27FC236}">
                  <a16:creationId xmlns:a16="http://schemas.microsoft.com/office/drawing/2014/main" id="{F4F188D5-F876-0C09-5CD7-9632657D1A9D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13</a:t>
              </a:r>
            </a:p>
          </p:txBody>
        </p:sp>
      </p:grpSp>
      <p:sp>
        <p:nvSpPr>
          <p:cNvPr id="138" name="TextBox 19">
            <a:extLst>
              <a:ext uri="{FF2B5EF4-FFF2-40B4-BE49-F238E27FC236}">
                <a16:creationId xmlns:a16="http://schemas.microsoft.com/office/drawing/2014/main" id="{0687F2AE-50B8-0646-8D14-EA2C48A0AAFD}"/>
              </a:ext>
            </a:extLst>
          </p:cNvPr>
          <p:cNvSpPr txBox="1"/>
          <p:nvPr/>
        </p:nvSpPr>
        <p:spPr>
          <a:xfrm>
            <a:off x="3576713" y="6646384"/>
            <a:ext cx="455196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Context Aware AI Chat</a:t>
            </a:r>
          </a:p>
        </p:txBody>
      </p:sp>
      <p:sp>
        <p:nvSpPr>
          <p:cNvPr id="139" name="TextBox 20">
            <a:extLst>
              <a:ext uri="{FF2B5EF4-FFF2-40B4-BE49-F238E27FC236}">
                <a16:creationId xmlns:a16="http://schemas.microsoft.com/office/drawing/2014/main" id="{8C5EE846-C89B-4ABE-F02A-251F1B7FF83F}"/>
              </a:ext>
            </a:extLst>
          </p:cNvPr>
          <p:cNvSpPr txBox="1"/>
          <p:nvPr/>
        </p:nvSpPr>
        <p:spPr>
          <a:xfrm>
            <a:off x="3576711" y="7320172"/>
            <a:ext cx="4551969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Database Design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D3638AE-289A-1578-71F3-E9169DCF24DF}"/>
              </a:ext>
            </a:extLst>
          </p:cNvPr>
          <p:cNvGrpSpPr/>
          <p:nvPr/>
        </p:nvGrpSpPr>
        <p:grpSpPr>
          <a:xfrm>
            <a:off x="2689367" y="6674987"/>
            <a:ext cx="505200" cy="483336"/>
            <a:chOff x="2810204" y="1739970"/>
            <a:chExt cx="505200" cy="483336"/>
          </a:xfrm>
        </p:grpSpPr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BF0C6724-10D1-5491-922D-35CDBADE1E17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42" name="TextBox 13">
              <a:extLst>
                <a:ext uri="{FF2B5EF4-FFF2-40B4-BE49-F238E27FC236}">
                  <a16:creationId xmlns:a16="http://schemas.microsoft.com/office/drawing/2014/main" id="{110E1A91-8B92-7B28-462B-AB7A9A51D114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14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26710F1-E97B-689D-28BA-FC2F77256D6F}"/>
              </a:ext>
            </a:extLst>
          </p:cNvPr>
          <p:cNvGrpSpPr/>
          <p:nvPr/>
        </p:nvGrpSpPr>
        <p:grpSpPr>
          <a:xfrm>
            <a:off x="2686985" y="7247985"/>
            <a:ext cx="505200" cy="483336"/>
            <a:chOff x="2810204" y="1739970"/>
            <a:chExt cx="505200" cy="483336"/>
          </a:xfrm>
        </p:grpSpPr>
        <p:sp>
          <p:nvSpPr>
            <p:cNvPr id="135" name="Freeform 12">
              <a:extLst>
                <a:ext uri="{FF2B5EF4-FFF2-40B4-BE49-F238E27FC236}">
                  <a16:creationId xmlns:a16="http://schemas.microsoft.com/office/drawing/2014/main" id="{2BC22C00-378E-1259-89F6-F8D7639E2C83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36" name="TextBox 13">
              <a:extLst>
                <a:ext uri="{FF2B5EF4-FFF2-40B4-BE49-F238E27FC236}">
                  <a16:creationId xmlns:a16="http://schemas.microsoft.com/office/drawing/2014/main" id="{14D933CF-623C-D995-2E22-CD10C719FEA7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15</a:t>
              </a:r>
            </a:p>
          </p:txBody>
        </p:sp>
      </p:grpSp>
      <p:sp>
        <p:nvSpPr>
          <p:cNvPr id="130" name="TextBox 19">
            <a:extLst>
              <a:ext uri="{FF2B5EF4-FFF2-40B4-BE49-F238E27FC236}">
                <a16:creationId xmlns:a16="http://schemas.microsoft.com/office/drawing/2014/main" id="{6BBB5142-DCB4-22EF-B141-170CA546AD20}"/>
              </a:ext>
            </a:extLst>
          </p:cNvPr>
          <p:cNvSpPr txBox="1"/>
          <p:nvPr/>
        </p:nvSpPr>
        <p:spPr>
          <a:xfrm>
            <a:off x="3574331" y="7803512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Key Algorithms</a:t>
            </a:r>
          </a:p>
        </p:txBody>
      </p:sp>
      <p:sp>
        <p:nvSpPr>
          <p:cNvPr id="131" name="TextBox 20">
            <a:extLst>
              <a:ext uri="{FF2B5EF4-FFF2-40B4-BE49-F238E27FC236}">
                <a16:creationId xmlns:a16="http://schemas.microsoft.com/office/drawing/2014/main" id="{4E4B2332-B150-97C6-9B9A-E42B37D8C50E}"/>
              </a:ext>
            </a:extLst>
          </p:cNvPr>
          <p:cNvSpPr txBox="1"/>
          <p:nvPr/>
        </p:nvSpPr>
        <p:spPr>
          <a:xfrm>
            <a:off x="3574330" y="8477300"/>
            <a:ext cx="40574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Evaluation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2FB6FB9-3745-E783-F46D-44647A0AF0B0}"/>
              </a:ext>
            </a:extLst>
          </p:cNvPr>
          <p:cNvGrpSpPr/>
          <p:nvPr/>
        </p:nvGrpSpPr>
        <p:grpSpPr>
          <a:xfrm>
            <a:off x="2686985" y="7832115"/>
            <a:ext cx="505200" cy="483336"/>
            <a:chOff x="2810204" y="1739970"/>
            <a:chExt cx="505200" cy="483336"/>
          </a:xfrm>
        </p:grpSpPr>
        <p:sp>
          <p:nvSpPr>
            <p:cNvPr id="133" name="Freeform 12">
              <a:extLst>
                <a:ext uri="{FF2B5EF4-FFF2-40B4-BE49-F238E27FC236}">
                  <a16:creationId xmlns:a16="http://schemas.microsoft.com/office/drawing/2014/main" id="{4024F4A5-56BF-8CF0-C299-FC5DD57BF06C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34" name="TextBox 13">
              <a:extLst>
                <a:ext uri="{FF2B5EF4-FFF2-40B4-BE49-F238E27FC236}">
                  <a16:creationId xmlns:a16="http://schemas.microsoft.com/office/drawing/2014/main" id="{268726D7-9A97-5CD9-F8CA-BBA5BEE3968A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16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D7F2170-B7BF-E447-C961-2BFCA5D9DA55}"/>
              </a:ext>
            </a:extLst>
          </p:cNvPr>
          <p:cNvGrpSpPr/>
          <p:nvPr/>
        </p:nvGrpSpPr>
        <p:grpSpPr>
          <a:xfrm>
            <a:off x="2689367" y="8411463"/>
            <a:ext cx="505200" cy="483336"/>
            <a:chOff x="2810204" y="1739970"/>
            <a:chExt cx="505200" cy="483336"/>
          </a:xfrm>
        </p:grpSpPr>
        <p:sp>
          <p:nvSpPr>
            <p:cNvPr id="125" name="Freeform 12">
              <a:extLst>
                <a:ext uri="{FF2B5EF4-FFF2-40B4-BE49-F238E27FC236}">
                  <a16:creationId xmlns:a16="http://schemas.microsoft.com/office/drawing/2014/main" id="{C6E80815-F127-4ED6-F1A7-10813CFA881C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126" name="TextBox 13">
              <a:extLst>
                <a:ext uri="{FF2B5EF4-FFF2-40B4-BE49-F238E27FC236}">
                  <a16:creationId xmlns:a16="http://schemas.microsoft.com/office/drawing/2014/main" id="{AE4106BC-C301-572B-7C10-9A60B3B9DDA8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17</a:t>
              </a:r>
            </a:p>
          </p:txBody>
        </p:sp>
      </p:grpSp>
      <p:sp>
        <p:nvSpPr>
          <p:cNvPr id="120" name="TextBox 19">
            <a:extLst>
              <a:ext uri="{FF2B5EF4-FFF2-40B4-BE49-F238E27FC236}">
                <a16:creationId xmlns:a16="http://schemas.microsoft.com/office/drawing/2014/main" id="{1E4B8331-BF46-511E-5B8D-56834407A272}"/>
              </a:ext>
            </a:extLst>
          </p:cNvPr>
          <p:cNvSpPr txBox="1"/>
          <p:nvPr/>
        </p:nvSpPr>
        <p:spPr>
          <a:xfrm>
            <a:off x="3576713" y="8966990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Phase B Timeline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5C4248-1EED-1F58-6CD3-2D6F1753067F}"/>
              </a:ext>
            </a:extLst>
          </p:cNvPr>
          <p:cNvGrpSpPr/>
          <p:nvPr/>
        </p:nvGrpSpPr>
        <p:grpSpPr>
          <a:xfrm>
            <a:off x="2686984" y="8997464"/>
            <a:ext cx="505200" cy="483336"/>
            <a:chOff x="2810204" y="1739970"/>
            <a:chExt cx="505200" cy="483336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CC4FFA94-3F3C-7BBF-A3B0-A6426AC9BA2E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51628372-74B8-9689-B3EC-B87AA39E3696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18</a:t>
              </a:r>
            </a:p>
          </p:txBody>
        </p:sp>
      </p:grpSp>
      <p:sp>
        <p:nvSpPr>
          <p:cNvPr id="18" name="TextBox 19">
            <a:extLst>
              <a:ext uri="{FF2B5EF4-FFF2-40B4-BE49-F238E27FC236}">
                <a16:creationId xmlns:a16="http://schemas.microsoft.com/office/drawing/2014/main" id="{E28AF992-8F0D-24EE-0C0C-E6AA792BE7CF}"/>
              </a:ext>
            </a:extLst>
          </p:cNvPr>
          <p:cNvSpPr txBox="1"/>
          <p:nvPr/>
        </p:nvSpPr>
        <p:spPr>
          <a:xfrm>
            <a:off x="3574330" y="9552991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Demonstration video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59774EF-D516-6056-93F5-079380B5BB2A}"/>
              </a:ext>
            </a:extLst>
          </p:cNvPr>
          <p:cNvSpPr txBox="1"/>
          <p:nvPr/>
        </p:nvSpPr>
        <p:spPr>
          <a:xfrm>
            <a:off x="3574330" y="10154699"/>
            <a:ext cx="4057443" cy="483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endParaRPr lang="en-US" sz="25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 Bold"/>
              <a:sym typeface="Inter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043AFC-75D9-7F02-D349-C7801AA00F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846" b="898"/>
          <a:stretch>
            <a:fillRect/>
          </a:stretch>
        </p:blipFill>
        <p:spPr>
          <a:xfrm>
            <a:off x="11838803" y="9239133"/>
            <a:ext cx="6449197" cy="241668"/>
          </a:xfrm>
          <a:prstGeom prst="rect">
            <a:avLst/>
          </a:prstGeom>
        </p:spPr>
      </p:pic>
      <p:sp>
        <p:nvSpPr>
          <p:cNvPr id="11" name="TextBox 20">
            <a:extLst>
              <a:ext uri="{FF2B5EF4-FFF2-40B4-BE49-F238E27FC236}">
                <a16:creationId xmlns:a16="http://schemas.microsoft.com/office/drawing/2014/main" id="{D9CEEE1E-28B6-F398-66AF-7DF3C87BB215}"/>
              </a:ext>
            </a:extLst>
          </p:cNvPr>
          <p:cNvSpPr txBox="1"/>
          <p:nvPr/>
        </p:nvSpPr>
        <p:spPr>
          <a:xfrm>
            <a:off x="3574329" y="2654354"/>
            <a:ext cx="465527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sym typeface="Inter Bold"/>
              </a:rPr>
              <a:t>Key Decisions &amp; Constraints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107D15-0D22-658F-4364-D0D0F5EBBAE4}"/>
              </a:ext>
            </a:extLst>
          </p:cNvPr>
          <p:cNvGrpSpPr/>
          <p:nvPr/>
        </p:nvGrpSpPr>
        <p:grpSpPr>
          <a:xfrm>
            <a:off x="2686984" y="9581594"/>
            <a:ext cx="505200" cy="483336"/>
            <a:chOff x="2810204" y="1739970"/>
            <a:chExt cx="505200" cy="483336"/>
          </a:xfrm>
        </p:grpSpPr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DB46BC19-C42B-22BD-E422-00A2144CBB43}"/>
                </a:ext>
              </a:extLst>
            </p:cNvPr>
            <p:cNvSpPr/>
            <p:nvPr/>
          </p:nvSpPr>
          <p:spPr>
            <a:xfrm>
              <a:off x="2810204" y="1739970"/>
              <a:ext cx="505200" cy="483336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30" name="TextBox 13">
              <a:extLst>
                <a:ext uri="{FF2B5EF4-FFF2-40B4-BE49-F238E27FC236}">
                  <a16:creationId xmlns:a16="http://schemas.microsoft.com/office/drawing/2014/main" id="{B4C2E764-184E-C000-61AC-83445A25168C}"/>
                </a:ext>
              </a:extLst>
            </p:cNvPr>
            <p:cNvSpPr txBox="1"/>
            <p:nvPr/>
          </p:nvSpPr>
          <p:spPr>
            <a:xfrm>
              <a:off x="2815116" y="1840422"/>
              <a:ext cx="495376" cy="282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51302" y="3423754"/>
            <a:ext cx="4893733" cy="4692317"/>
          </a:xfrm>
          <a:custGeom>
            <a:avLst/>
            <a:gdLst/>
            <a:ahLst/>
            <a:cxnLst/>
            <a:rect l="l" t="t" r="r" b="b"/>
            <a:pathLst>
              <a:path w="812800" h="888283">
                <a:moveTo>
                  <a:pt x="0" y="0"/>
                </a:moveTo>
                <a:lnTo>
                  <a:pt x="812800" y="0"/>
                </a:lnTo>
                <a:lnTo>
                  <a:pt x="812800" y="888283"/>
                </a:lnTo>
                <a:lnTo>
                  <a:pt x="0" y="888283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8523" y="366266"/>
            <a:ext cx="5624213" cy="2345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Problem &amp; Motivation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48284" y="2001458"/>
            <a:ext cx="9329578" cy="157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8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</a:p>
          <a:p>
            <a:pPr marL="0" lvl="0" indent="0" algn="l">
              <a:lnSpc>
                <a:spcPts val="4158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After surveying a small group of new parents, we identified key infant sleep problem: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C1A117-0E8A-B379-F340-A1E5AE4D2F73}"/>
              </a:ext>
            </a:extLst>
          </p:cNvPr>
          <p:cNvGrpSpPr/>
          <p:nvPr/>
        </p:nvGrpSpPr>
        <p:grpSpPr>
          <a:xfrm>
            <a:off x="6553200" y="3924300"/>
            <a:ext cx="11212480" cy="4850472"/>
            <a:chOff x="7456520" y="2949799"/>
            <a:chExt cx="11212480" cy="485047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FAA0661-579A-46EB-3379-0AA9C29294A7}"/>
                </a:ext>
              </a:extLst>
            </p:cNvPr>
            <p:cNvGrpSpPr/>
            <p:nvPr/>
          </p:nvGrpSpPr>
          <p:grpSpPr>
            <a:xfrm>
              <a:off x="7456520" y="2949799"/>
              <a:ext cx="7361309" cy="1056571"/>
              <a:chOff x="7456520" y="2949799"/>
              <a:chExt cx="7361309" cy="1056571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7456520" y="3266168"/>
                <a:ext cx="450213" cy="450213"/>
                <a:chOff x="0" y="0"/>
                <a:chExt cx="812800" cy="8128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8414958" y="2949799"/>
                <a:ext cx="6402871" cy="105657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Lack of accessible, user-friendly </a:t>
                </a:r>
              </a:p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sleep-oriented monitoring tools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00DAAA3-47DF-51A6-E161-4106D506E215}"/>
                </a:ext>
              </a:extLst>
            </p:cNvPr>
            <p:cNvGrpSpPr/>
            <p:nvPr/>
          </p:nvGrpSpPr>
          <p:grpSpPr>
            <a:xfrm>
              <a:off x="7456520" y="4152900"/>
              <a:ext cx="9762697" cy="505138"/>
              <a:chOff x="7456520" y="5178287"/>
              <a:chExt cx="9762697" cy="505138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7456520" y="5224332"/>
                <a:ext cx="450213" cy="450213"/>
                <a:chOff x="0" y="0"/>
                <a:chExt cx="812800" cy="8128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414958" y="5178287"/>
                <a:ext cx="8804259" cy="5051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Existing solutions give an incomplete picture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1D2C3BA-5260-ADA4-DA0D-EF4B4BB9139C}"/>
                </a:ext>
              </a:extLst>
            </p:cNvPr>
            <p:cNvGrpSpPr/>
            <p:nvPr/>
          </p:nvGrpSpPr>
          <p:grpSpPr>
            <a:xfrm>
              <a:off x="7456520" y="5067300"/>
              <a:ext cx="9193572" cy="513385"/>
              <a:chOff x="7456520" y="7619749"/>
              <a:chExt cx="9193572" cy="513385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14958" y="7619749"/>
                <a:ext cx="8235134" cy="51338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Uncertainty of what triggers awakenings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7456520" y="7664525"/>
                <a:ext cx="450213" cy="450213"/>
                <a:chOff x="0" y="0"/>
                <a:chExt cx="812800" cy="8128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1B2FF5D-0DDE-6852-3972-F4765EE38674}"/>
                </a:ext>
              </a:extLst>
            </p:cNvPr>
            <p:cNvGrpSpPr/>
            <p:nvPr/>
          </p:nvGrpSpPr>
          <p:grpSpPr>
            <a:xfrm>
              <a:off x="7456520" y="5981700"/>
              <a:ext cx="11212480" cy="505138"/>
              <a:chOff x="7456520" y="7619749"/>
              <a:chExt cx="11212480" cy="505138"/>
            </a:xfrm>
          </p:grpSpPr>
          <p:sp>
            <p:nvSpPr>
              <p:cNvPr id="30" name="TextBox 20">
                <a:extLst>
                  <a:ext uri="{FF2B5EF4-FFF2-40B4-BE49-F238E27FC236}">
                    <a16:creationId xmlns:a16="http://schemas.microsoft.com/office/drawing/2014/main" id="{AFFF081E-E980-364D-E810-DF00C157B4AB}"/>
                  </a:ext>
                </a:extLst>
              </p:cNvPr>
              <p:cNvSpPr txBox="1"/>
              <p:nvPr/>
            </p:nvSpPr>
            <p:spPr>
              <a:xfrm>
                <a:off x="8414958" y="7619749"/>
                <a:ext cx="10254042" cy="5051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Difficulty identifying sleep patterns for daily schedule</a:t>
                </a:r>
              </a:p>
            </p:txBody>
          </p:sp>
          <p:grpSp>
            <p:nvGrpSpPr>
              <p:cNvPr id="31" name="Group 23">
                <a:extLst>
                  <a:ext uri="{FF2B5EF4-FFF2-40B4-BE49-F238E27FC236}">
                    <a16:creationId xmlns:a16="http://schemas.microsoft.com/office/drawing/2014/main" id="{A83B951D-C63A-2EC4-C3FE-5FF7544EC76A}"/>
                  </a:ext>
                </a:extLst>
              </p:cNvPr>
              <p:cNvGrpSpPr/>
              <p:nvPr/>
            </p:nvGrpSpPr>
            <p:grpSpPr>
              <a:xfrm>
                <a:off x="7456520" y="7664525"/>
                <a:ext cx="450213" cy="450213"/>
                <a:chOff x="0" y="0"/>
                <a:chExt cx="812800" cy="812800"/>
              </a:xfrm>
            </p:grpSpPr>
            <p:sp>
              <p:nvSpPr>
                <p:cNvPr id="32" name="Freeform 24">
                  <a:extLst>
                    <a:ext uri="{FF2B5EF4-FFF2-40B4-BE49-F238E27FC236}">
                      <a16:creationId xmlns:a16="http://schemas.microsoft.com/office/drawing/2014/main" id="{A066811D-1519-A349-A8E1-07BA0BCEB99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33" name="TextBox 25">
                  <a:extLst>
                    <a:ext uri="{FF2B5EF4-FFF2-40B4-BE49-F238E27FC236}">
                      <a16:creationId xmlns:a16="http://schemas.microsoft.com/office/drawing/2014/main" id="{0539B871-4B83-EA67-44D9-42115A146795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F62B3DC-5255-06CD-7815-0AB76BDCC860}"/>
                </a:ext>
              </a:extLst>
            </p:cNvPr>
            <p:cNvGrpSpPr/>
            <p:nvPr/>
          </p:nvGrpSpPr>
          <p:grpSpPr>
            <a:xfrm>
              <a:off x="7456520" y="6743700"/>
              <a:ext cx="11212480" cy="1056571"/>
              <a:chOff x="7456520" y="7619749"/>
              <a:chExt cx="11212480" cy="1056571"/>
            </a:xfrm>
          </p:grpSpPr>
          <p:sp>
            <p:nvSpPr>
              <p:cNvPr id="35" name="TextBox 20">
                <a:extLst>
                  <a:ext uri="{FF2B5EF4-FFF2-40B4-BE49-F238E27FC236}">
                    <a16:creationId xmlns:a16="http://schemas.microsoft.com/office/drawing/2014/main" id="{D0FAD883-5278-BAAA-4889-2F7A073E6CB9}"/>
                  </a:ext>
                </a:extLst>
              </p:cNvPr>
              <p:cNvSpPr txBox="1"/>
              <p:nvPr/>
            </p:nvSpPr>
            <p:spPr>
              <a:xfrm>
                <a:off x="8414958" y="7619749"/>
                <a:ext cx="10254042" cy="105657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No way to track long-term sleep trends or improvement without data-driven insights</a:t>
                </a:r>
              </a:p>
            </p:txBody>
          </p:sp>
          <p:grpSp>
            <p:nvGrpSpPr>
              <p:cNvPr id="36" name="Group 23">
                <a:extLst>
                  <a:ext uri="{FF2B5EF4-FFF2-40B4-BE49-F238E27FC236}">
                    <a16:creationId xmlns:a16="http://schemas.microsoft.com/office/drawing/2014/main" id="{CA3BB4E2-FAE9-CF94-8F17-4DDBE3590E9D}"/>
                  </a:ext>
                </a:extLst>
              </p:cNvPr>
              <p:cNvGrpSpPr/>
              <p:nvPr/>
            </p:nvGrpSpPr>
            <p:grpSpPr>
              <a:xfrm>
                <a:off x="7456520" y="7680353"/>
                <a:ext cx="450213" cy="692787"/>
                <a:chOff x="0" y="28575"/>
                <a:chExt cx="812800" cy="1250737"/>
              </a:xfrm>
            </p:grpSpPr>
            <p:sp>
              <p:nvSpPr>
                <p:cNvPr id="37" name="Freeform 24">
                  <a:extLst>
                    <a:ext uri="{FF2B5EF4-FFF2-40B4-BE49-F238E27FC236}">
                      <a16:creationId xmlns:a16="http://schemas.microsoft.com/office/drawing/2014/main" id="{76025F06-16D5-436F-E24B-BFB9843CAFE3}"/>
                    </a:ext>
                  </a:extLst>
                </p:cNvPr>
                <p:cNvSpPr/>
                <p:nvPr/>
              </p:nvSpPr>
              <p:spPr>
                <a:xfrm>
                  <a:off x="0" y="466511"/>
                  <a:ext cx="812800" cy="812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38" name="TextBox 25">
                  <a:extLst>
                    <a:ext uri="{FF2B5EF4-FFF2-40B4-BE49-F238E27FC236}">
                      <a16:creationId xmlns:a16="http://schemas.microsoft.com/office/drawing/2014/main" id="{6EBF9421-136E-D2CF-1F93-94D5EA1EDEDA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24F88-A5A3-2E29-5F83-96C1EF1D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ECCEE1-0A01-934C-C512-593DE065EF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957256-486E-43EB-D410-D4C16F9928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290001"/>
            <a:ext cx="5624213" cy="2345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System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50254" y="1462726"/>
            <a:ext cx="11665109" cy="264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58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 lang="en-US" sz="3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lnSpc>
                <a:spcPts val="4158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Nappi is a digital twin inspired infant sleep monitoring PoC that helps parents understand sleep by turning sensor data and sleep/wake events into correlation-based insights and likely contributing factors.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24F88-A5A3-2E29-5F83-96C1EF1D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ECCEE1-0A01-934C-C512-593DE065EF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957256-486E-43EB-D410-D4C16F9928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AAD364FF-49AF-9909-58F0-68D263DCC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339" y="4688443"/>
            <a:ext cx="4758646" cy="3632716"/>
          </a:xfrm>
          <a:prstGeom prst="rect">
            <a:avLst/>
          </a:prstGeom>
        </p:spPr>
      </p:pic>
      <p:sp>
        <p:nvSpPr>
          <p:cNvPr id="41" name="TextBox 20">
            <a:extLst>
              <a:ext uri="{FF2B5EF4-FFF2-40B4-BE49-F238E27FC236}">
                <a16:creationId xmlns:a16="http://schemas.microsoft.com/office/drawing/2014/main" id="{D0FAD883-5278-BAAA-4889-2F7A073E6CB9}"/>
              </a:ext>
            </a:extLst>
          </p:cNvPr>
          <p:cNvSpPr txBox="1"/>
          <p:nvPr/>
        </p:nvSpPr>
        <p:spPr>
          <a:xfrm>
            <a:off x="6104435" y="5035709"/>
            <a:ext cx="11756746" cy="436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5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cs typeface="Inter Bold"/>
                <a:sym typeface="Inter Bold"/>
              </a:rPr>
              <a:t>What It Does:</a:t>
            </a:r>
          </a:p>
          <a:p>
            <a:pPr marL="0" lvl="0" indent="0" algn="l">
              <a:lnSpc>
                <a:spcPts val="425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•  Tracks sleep sessions and room environment in real time</a:t>
            </a:r>
          </a:p>
          <a:p>
            <a:pPr marL="0" lvl="0" indent="0" algn="l">
              <a:lnSpc>
                <a:spcPts val="425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•  Sends real-time alerts via SSE and Web Push</a:t>
            </a:r>
          </a:p>
          <a:p>
            <a:pPr marL="0" lvl="0" indent="0" algn="l">
              <a:lnSpc>
                <a:spcPts val="425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•  Correlates environmental changes with awakenings</a:t>
            </a:r>
          </a:p>
          <a:p>
            <a:pPr lvl="0">
              <a:lnSpc>
                <a:spcPts val="425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•  Provides AI-generated explanations and a context-aware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    chat assistant</a:t>
            </a:r>
          </a:p>
          <a:p>
            <a:pPr lvl="0">
              <a:lnSpc>
                <a:spcPts val="4250"/>
              </a:lnSpc>
              <a:spcBef>
                <a:spcPct val="0"/>
              </a:spcBef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•  Computes daily summaries, trends, optimal conditions, and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     schedule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2FA5-C667-D313-1940-8A83CADF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8EE3F6A9-33D6-4E1A-3885-30B07C131057}"/>
              </a:ext>
            </a:extLst>
          </p:cNvPr>
          <p:cNvSpPr txBox="1"/>
          <p:nvPr/>
        </p:nvSpPr>
        <p:spPr>
          <a:xfrm>
            <a:off x="3924300" y="266700"/>
            <a:ext cx="104394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Key Decisions &amp;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36282-6C79-BCD1-ABE8-EB18E34B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3645787-74A6-2B58-9DAD-E38778EA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034"/>
          <a:stretch>
            <a:fillRect/>
          </a:stretch>
        </p:blipFill>
        <p:spPr>
          <a:xfrm>
            <a:off x="15849601" y="7555959"/>
            <a:ext cx="2438400" cy="260931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AA8AF1B-F8FD-053A-B083-25135101BE86}"/>
              </a:ext>
            </a:extLst>
          </p:cNvPr>
          <p:cNvGrpSpPr/>
          <p:nvPr/>
        </p:nvGrpSpPr>
        <p:grpSpPr>
          <a:xfrm>
            <a:off x="-341839" y="2857502"/>
            <a:ext cx="16767227" cy="6553196"/>
            <a:chOff x="-341839" y="2857502"/>
            <a:chExt cx="16767227" cy="655319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DC0AF9-DFD4-8E16-DD1E-EE429FFAC06F}"/>
                </a:ext>
              </a:extLst>
            </p:cNvPr>
            <p:cNvGrpSpPr/>
            <p:nvPr/>
          </p:nvGrpSpPr>
          <p:grpSpPr>
            <a:xfrm>
              <a:off x="-341839" y="2857502"/>
              <a:ext cx="16307083" cy="6553196"/>
              <a:chOff x="-341839" y="2857502"/>
              <a:chExt cx="16307083" cy="6553196"/>
            </a:xfrm>
          </p:grpSpPr>
          <p:grpSp>
            <p:nvGrpSpPr>
              <p:cNvPr id="4" name="Group 9">
                <a:extLst>
                  <a:ext uri="{FF2B5EF4-FFF2-40B4-BE49-F238E27FC236}">
                    <a16:creationId xmlns:a16="http://schemas.microsoft.com/office/drawing/2014/main" id="{4A5201D8-8E47-BAFA-3C37-4B8F5FBBEE04}"/>
                  </a:ext>
                </a:extLst>
              </p:cNvPr>
              <p:cNvGrpSpPr/>
              <p:nvPr/>
            </p:nvGrpSpPr>
            <p:grpSpPr>
              <a:xfrm rot="16200000">
                <a:off x="4535105" y="-2019442"/>
                <a:ext cx="6553196" cy="16307083"/>
                <a:chOff x="-19568" y="-47625"/>
                <a:chExt cx="420715" cy="2271900"/>
              </a:xfrm>
            </p:grpSpPr>
            <p:sp>
              <p:nvSpPr>
                <p:cNvPr id="5" name="Freeform 10">
                  <a:extLst>
                    <a:ext uri="{FF2B5EF4-FFF2-40B4-BE49-F238E27FC236}">
                      <a16:creationId xmlns:a16="http://schemas.microsoft.com/office/drawing/2014/main" id="{AAEEE93E-9544-97FE-CE5B-6818523C78E5}"/>
                    </a:ext>
                  </a:extLst>
                </p:cNvPr>
                <p:cNvSpPr/>
                <p:nvPr/>
              </p:nvSpPr>
              <p:spPr>
                <a:xfrm>
                  <a:off x="-19568" y="0"/>
                  <a:ext cx="420715" cy="222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483" h="2224275">
                      <a:moveTo>
                        <a:pt x="0" y="0"/>
                      </a:moveTo>
                      <a:lnTo>
                        <a:pt x="366483" y="0"/>
                      </a:lnTo>
                      <a:lnTo>
                        <a:pt x="366483" y="2224275"/>
                      </a:lnTo>
                      <a:lnTo>
                        <a:pt x="0" y="2224275"/>
                      </a:lnTo>
                      <a:close/>
                    </a:path>
                  </a:pathLst>
                </a:custGeom>
                <a:solidFill>
                  <a:srgbClr val="EAD6B8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" name="TextBox 11">
                  <a:extLst>
                    <a:ext uri="{FF2B5EF4-FFF2-40B4-BE49-F238E27FC236}">
                      <a16:creationId xmlns:a16="http://schemas.microsoft.com/office/drawing/2014/main" id="{6EA8FEC1-2D5C-CAE0-3E7E-F1CD5D26BDC0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366483" cy="2271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EBB2CB3-2AAD-70AA-E931-FFD4BC48A0AD}"/>
                  </a:ext>
                </a:extLst>
              </p:cNvPr>
              <p:cNvGrpSpPr/>
              <p:nvPr/>
            </p:nvGrpSpPr>
            <p:grpSpPr>
              <a:xfrm>
                <a:off x="2064385" y="3009900"/>
                <a:ext cx="9965769" cy="1055482"/>
                <a:chOff x="2526048" y="1520459"/>
                <a:chExt cx="9965769" cy="1055482"/>
              </a:xfrm>
            </p:grpSpPr>
            <p:sp>
              <p:nvSpPr>
                <p:cNvPr id="14" name="Freeform 10">
                  <a:extLst>
                    <a:ext uri="{FF2B5EF4-FFF2-40B4-BE49-F238E27FC236}">
                      <a16:creationId xmlns:a16="http://schemas.microsoft.com/office/drawing/2014/main" id="{0A232B7E-07BF-C73B-30FB-B3985CD68E69}"/>
                    </a:ext>
                  </a:extLst>
                </p:cNvPr>
                <p:cNvSpPr/>
                <p:nvPr/>
              </p:nvSpPr>
              <p:spPr>
                <a:xfrm>
                  <a:off x="2526048" y="1547301"/>
                  <a:ext cx="450213" cy="450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15" name="TextBox 17">
                  <a:extLst>
                    <a:ext uri="{FF2B5EF4-FFF2-40B4-BE49-F238E27FC236}">
                      <a16:creationId xmlns:a16="http://schemas.microsoft.com/office/drawing/2014/main" id="{F0D156EF-330B-2F02-2327-CF94F06EC4E8}"/>
                    </a:ext>
                  </a:extLst>
                </p:cNvPr>
                <p:cNvSpPr txBox="1"/>
                <p:nvPr/>
              </p:nvSpPr>
              <p:spPr>
                <a:xfrm>
                  <a:off x="3120692" y="1520459"/>
                  <a:ext cx="9371125" cy="105548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250"/>
                    </a:lnSpc>
                    <a:spcBef>
                      <a:spcPct val="0"/>
                    </a:spcBef>
                  </a:pPr>
                  <a:r>
                    <a:rPr lang="en-US" sz="3000" b="1" dirty="0">
                      <a:solidFill>
                        <a:srgbClr val="705C40"/>
                      </a:solidFill>
                      <a:latin typeface="Inter Bold" panose="020B0604020202020204" charset="0"/>
                      <a:ea typeface="Inter Bold" panose="020B0604020202020204" charset="0"/>
                      <a:cs typeface="Inter Bold"/>
                      <a:sym typeface="Inter Bold"/>
                    </a:rPr>
                    <a:t>Hardware downshift:</a:t>
                  </a:r>
                  <a:r>
                    <a:rPr lang="en-US" sz="3000" dirty="0">
                      <a:solidFill>
                        <a:srgbClr val="705C40"/>
                      </a:solidFill>
                      <a:latin typeface="Inter" panose="020B0604020202020204" charset="0"/>
                      <a:ea typeface="Inter" panose="020B0604020202020204" charset="0"/>
                      <a:cs typeface="Inter Bold"/>
                      <a:sym typeface="Inter Bold"/>
                    </a:rPr>
                    <a:t> Moved from Raspberry Pi to M5Stack Core2 (modular sensors, no soldering)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6A29E5-AF4D-0CFF-4008-50789869218C}"/>
                </a:ext>
              </a:extLst>
            </p:cNvPr>
            <p:cNvGrpSpPr/>
            <p:nvPr/>
          </p:nvGrpSpPr>
          <p:grpSpPr>
            <a:xfrm>
              <a:off x="2064385" y="4374785"/>
              <a:ext cx="14361003" cy="3359515"/>
              <a:chOff x="2064385" y="4374785"/>
              <a:chExt cx="14361003" cy="3359515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BC73AC-930E-2186-CDAD-4B020C9C50B9}"/>
                  </a:ext>
                </a:extLst>
              </p:cNvPr>
              <p:cNvSpPr txBox="1"/>
              <p:nvPr/>
            </p:nvSpPr>
            <p:spPr>
              <a:xfrm>
                <a:off x="2686243" y="4374785"/>
                <a:ext cx="13057808" cy="21583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 panose="020B0604020202020204" charset="0"/>
                    <a:ea typeface="Inter Bold" panose="020B0604020202020204" charset="0"/>
                    <a:cs typeface="Inter Bold"/>
                    <a:sym typeface="Inter Bold"/>
                  </a:rPr>
                  <a:t>Sleep state approach: </a:t>
                </a:r>
                <a:r>
                  <a:rPr lang="en-US" sz="3000" dirty="0">
                    <a:solidFill>
                      <a:srgbClr val="705C40"/>
                    </a:solidFill>
                    <a:latin typeface="Inter" panose="020B0604020202020204" charset="0"/>
                    <a:ea typeface="Inter" panose="020B0604020202020204" charset="0"/>
                    <a:cs typeface="Inter Bold"/>
                    <a:sym typeface="Inter Bold"/>
                  </a:rPr>
                  <a:t>Eye-tracking wasn’t reliable for a sleeping baby and was too heavy for the device, so we used a ML AI Camera to run a lightweight on-device model that outputs a naive asleep / awake / away classification as a sufficient PoC demonstration for this component. 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07A6484-DCF5-7F0C-5FA7-7D7376F02332}"/>
                  </a:ext>
                </a:extLst>
              </p:cNvPr>
              <p:cNvGrpSpPr/>
              <p:nvPr/>
            </p:nvGrpSpPr>
            <p:grpSpPr>
              <a:xfrm>
                <a:off x="2064386" y="4388487"/>
                <a:ext cx="14361002" cy="3345813"/>
                <a:chOff x="2416212" y="2177495"/>
                <a:chExt cx="14361002" cy="3345813"/>
              </a:xfrm>
            </p:grpSpPr>
            <p:sp>
              <p:nvSpPr>
                <p:cNvPr id="20" name="Freeform 10">
                  <a:extLst>
                    <a:ext uri="{FF2B5EF4-FFF2-40B4-BE49-F238E27FC236}">
                      <a16:creationId xmlns:a16="http://schemas.microsoft.com/office/drawing/2014/main" id="{2CCA6074-E9B0-6BD7-A52E-5F1DC35A062F}"/>
                    </a:ext>
                  </a:extLst>
                </p:cNvPr>
                <p:cNvSpPr/>
                <p:nvPr/>
              </p:nvSpPr>
              <p:spPr>
                <a:xfrm>
                  <a:off x="2416212" y="2177495"/>
                  <a:ext cx="450213" cy="450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21" name="TextBox 17">
                  <a:extLst>
                    <a:ext uri="{FF2B5EF4-FFF2-40B4-BE49-F238E27FC236}">
                      <a16:creationId xmlns:a16="http://schemas.microsoft.com/office/drawing/2014/main" id="{C133E4E5-62BC-A84A-1B0F-57328D3D5E82}"/>
                    </a:ext>
                  </a:extLst>
                </p:cNvPr>
                <p:cNvSpPr txBox="1"/>
                <p:nvPr/>
              </p:nvSpPr>
              <p:spPr>
                <a:xfrm>
                  <a:off x="3038069" y="4467826"/>
                  <a:ext cx="13739145" cy="105548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250"/>
                    </a:lnSpc>
                    <a:spcBef>
                      <a:spcPct val="0"/>
                    </a:spcBef>
                  </a:pPr>
                  <a:r>
                    <a:rPr lang="en-US" sz="3000" b="1" dirty="0">
                      <a:solidFill>
                        <a:srgbClr val="705C40"/>
                      </a:solidFill>
                      <a:latin typeface="Inter Bold" panose="020B0604020202020204" charset="0"/>
                      <a:ea typeface="Inter Bold" panose="020B0604020202020204" charset="0"/>
                      <a:cs typeface="Inter Bold"/>
                      <a:sym typeface="Inter Bold"/>
                    </a:rPr>
                    <a:t>Privacy first camera: </a:t>
                  </a:r>
                  <a:r>
                    <a:rPr lang="en-US" sz="3000" dirty="0">
                      <a:solidFill>
                        <a:srgbClr val="705C40"/>
                      </a:solidFill>
                      <a:latin typeface="Inter" panose="020B0604020202020204" charset="0"/>
                      <a:ea typeface="Inter" panose="020B0604020202020204" charset="0"/>
                      <a:cs typeface="Inter Bold"/>
                      <a:sym typeface="Inter Bold"/>
                    </a:rPr>
                    <a:t>No video/images leave device except classification result</a:t>
                  </a:r>
                </a:p>
              </p:txBody>
            </p:sp>
          </p:grp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1B5860AB-0F2B-92F5-B852-C8AAA9EE1656}"/>
                  </a:ext>
                </a:extLst>
              </p:cNvPr>
              <p:cNvSpPr/>
              <p:nvPr/>
            </p:nvSpPr>
            <p:spPr>
              <a:xfrm>
                <a:off x="2064385" y="6730946"/>
                <a:ext cx="450213" cy="45021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9470"/>
              </a:solidFill>
            </p:spPr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4A3ADB-A621-E589-A2A9-A9ABF5DC0873}"/>
              </a:ext>
            </a:extLst>
          </p:cNvPr>
          <p:cNvGrpSpPr/>
          <p:nvPr/>
        </p:nvGrpSpPr>
        <p:grpSpPr>
          <a:xfrm>
            <a:off x="2064385" y="7974218"/>
            <a:ext cx="12665360" cy="1055482"/>
            <a:chOff x="2064385" y="7566436"/>
            <a:chExt cx="12665360" cy="1055482"/>
          </a:xfrm>
        </p:grpSpPr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3244EC83-9F50-C6BD-B017-685A384A68EC}"/>
                </a:ext>
              </a:extLst>
            </p:cNvPr>
            <p:cNvSpPr txBox="1"/>
            <p:nvPr/>
          </p:nvSpPr>
          <p:spPr>
            <a:xfrm>
              <a:off x="2667000" y="7566436"/>
              <a:ext cx="12062745" cy="10554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25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705C40"/>
                  </a:solidFill>
                  <a:latin typeface="Inter Bold" panose="020B0604020202020204" charset="0"/>
                  <a:ea typeface="Inter Bold" panose="020B0604020202020204" charset="0"/>
                  <a:cs typeface="Inter Bold"/>
                  <a:sym typeface="Inter Bold"/>
                </a:rPr>
                <a:t>Validation constraint: </a:t>
              </a:r>
              <a:r>
                <a:rPr lang="en-US" sz="30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cs typeface="Inter Bold"/>
                  <a:sym typeface="Inter Bold"/>
                </a:rPr>
                <a:t>No real infant sleep dataset, moved to a PoC with mock data &amp; persona-based validation</a:t>
              </a: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7949A108-97B0-03F7-33B2-A0C886043808}"/>
                </a:ext>
              </a:extLst>
            </p:cNvPr>
            <p:cNvSpPr/>
            <p:nvPr/>
          </p:nvSpPr>
          <p:spPr>
            <a:xfrm>
              <a:off x="2064385" y="7594546"/>
              <a:ext cx="450213" cy="45021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8734C3F4-F711-7959-4E31-41D3F99D6D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529" r="33384"/>
          <a:stretch>
            <a:fillRect/>
          </a:stretch>
        </p:blipFill>
        <p:spPr>
          <a:xfrm>
            <a:off x="16233011" y="-19286"/>
            <a:ext cx="2054989" cy="266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1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8EF6-F2D2-4EFF-5FCA-DD33353F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3E660B7-1DF3-509E-9EBE-C8D6A25CD8F4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9434F26-39CC-A0D2-8D30-11983FDDC770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1DDEB31-2643-99CE-3F0B-0D5208FFA81E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0D3ECDE3-9BDD-ED44-886B-DA966E082757}"/>
              </a:ext>
            </a:extLst>
          </p:cNvPr>
          <p:cNvSpPr txBox="1"/>
          <p:nvPr/>
        </p:nvSpPr>
        <p:spPr>
          <a:xfrm>
            <a:off x="3500137" y="557775"/>
            <a:ext cx="11282699" cy="11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Four-Tier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BC027-A847-9748-35B6-6C2893E6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FECDE7-B6D3-1326-064B-5C7EBB1A2E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  <p:sp>
        <p:nvSpPr>
          <p:cNvPr id="7" name="Google Shape;118;p4">
            <a:extLst>
              <a:ext uri="{FF2B5EF4-FFF2-40B4-BE49-F238E27FC236}">
                <a16:creationId xmlns:a16="http://schemas.microsoft.com/office/drawing/2014/main" id="{A886FA9E-E824-8FAD-CFFA-13A925D24CA8}"/>
              </a:ext>
            </a:extLst>
          </p:cNvPr>
          <p:cNvSpPr txBox="1"/>
          <p:nvPr/>
        </p:nvSpPr>
        <p:spPr>
          <a:xfrm>
            <a:off x="2626386" y="3592702"/>
            <a:ext cx="13030200" cy="5606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IoT Layer (M5Stack Core2):</a:t>
            </a:r>
            <a:endParaRPr sz="3000" b="1" dirty="0">
              <a:solidFill>
                <a:srgbClr val="705C40"/>
              </a:solidFill>
              <a:latin typeface="Inter Bold"/>
              <a:ea typeface="Inter Bold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Pulls live data of temperature, humidity, noise level,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 and AI-camera sleep state (sleep/awake/no-baby).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Shares data upstream by a lightweight on-device HTTP server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b="1" dirty="0">
              <a:solidFill>
                <a:srgbClr val="705C40"/>
              </a:solidFill>
              <a:latin typeface="Inter Bold"/>
              <a:ea typeface="Inter Bold"/>
              <a:sym typeface="Inter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Backend Layer (</a:t>
            </a:r>
            <a:r>
              <a:rPr lang="en-US" sz="3000" b="1" dirty="0" err="1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FastAPI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 + Python):</a:t>
            </a:r>
            <a:endParaRPr sz="3000" b="1" dirty="0">
              <a:solidFill>
                <a:srgbClr val="705C40"/>
              </a:solidFill>
              <a:latin typeface="Inter Bold"/>
              <a:ea typeface="Inter Bold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4 RESTful API routers: monitoring, sensor events, statistics, chat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</a:t>
            </a:r>
            <a:r>
              <a:rPr lang="en-US" sz="3000" dirty="0" err="1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APScheduler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: sensor polling (5s), daily summaries, optimal stats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Google Gemini AI for awakening insights and chat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SSE + Web Push (VAPID) for real-time alert delivery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55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15DD-7489-FDD0-300B-1D54CD7C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AB81BCC-D416-B932-D902-38B3291B2C66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B770103-ED96-9AD6-8E9B-8952B2A013F8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E8EB56-55CF-AD0E-9C51-632A92B3E70C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23391AA-620A-C692-5CA1-5ECC7779B136}"/>
              </a:ext>
            </a:extLst>
          </p:cNvPr>
          <p:cNvSpPr txBox="1"/>
          <p:nvPr/>
        </p:nvSpPr>
        <p:spPr>
          <a:xfrm>
            <a:off x="3500137" y="557775"/>
            <a:ext cx="11282699" cy="11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Four-Tier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7CE87C-6C98-F44E-7D48-D916C106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9A676B-C35B-22E8-D4E0-2A82044C8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  <p:sp>
        <p:nvSpPr>
          <p:cNvPr id="7" name="Google Shape;118;p4">
            <a:extLst>
              <a:ext uri="{FF2B5EF4-FFF2-40B4-BE49-F238E27FC236}">
                <a16:creationId xmlns:a16="http://schemas.microsoft.com/office/drawing/2014/main" id="{A238E502-1561-F908-147A-DC2669532995}"/>
              </a:ext>
            </a:extLst>
          </p:cNvPr>
          <p:cNvSpPr txBox="1"/>
          <p:nvPr/>
        </p:nvSpPr>
        <p:spPr>
          <a:xfrm>
            <a:off x="2209800" y="3826187"/>
            <a:ext cx="14554200" cy="505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Frontend Layer (React + TypeScript):</a:t>
            </a:r>
            <a:endParaRPr sz="3000" b="1" dirty="0">
              <a:solidFill>
                <a:srgbClr val="705C40"/>
              </a:solidFill>
              <a:latin typeface="Inter Bold"/>
              <a:ea typeface="Inter Bold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Dashboard, statistics, notifications, AI chat, user profile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</a:t>
            </a:r>
            <a:r>
              <a:rPr lang="en-US" sz="3000" dirty="0" err="1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ECharts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for data visualization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Session cookie auth, responsive design with Tailwind CSS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b="1" dirty="0">
              <a:solidFill>
                <a:srgbClr val="705C40"/>
              </a:solidFill>
              <a:latin typeface="Inter Bold"/>
              <a:ea typeface="Inter Bold"/>
              <a:sym typeface="Inter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Database Layer (PostgreSQL + </a:t>
            </a:r>
            <a:r>
              <a:rPr lang="en-US" sz="3000" b="1" dirty="0" err="1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SQLAlchemy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):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Neon serverless PostgreSQL - "Nappi" schema, raw SQL via text(), no ORM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  •  </a:t>
            </a:r>
            <a:r>
              <a:rPr lang="en-US" sz="3000" dirty="0" err="1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DatabaseManager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 singleton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  •  SQL migrations for schema versioning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620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6FE1-8F7E-A314-4FCB-56492905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B08067F-1F94-F4EA-9640-71148DF0C7EF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6563EB0-9A42-71EE-5D6A-1083CD1B6C13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76DB5C6-5466-55E1-FDBB-C3F5C5F650B1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F65AF74E-A63E-C676-CCBB-4914328B4146}"/>
              </a:ext>
            </a:extLst>
          </p:cNvPr>
          <p:cNvSpPr txBox="1"/>
          <p:nvPr/>
        </p:nvSpPr>
        <p:spPr>
          <a:xfrm>
            <a:off x="3500137" y="557775"/>
            <a:ext cx="11282699" cy="11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Four-Tier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5029-6EFE-8C82-6F43-2ACC26F6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7C3876-3A1F-F94B-0CD5-0294BABC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141116-A2FF-0C6B-CD76-95D422D5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2324100"/>
            <a:ext cx="9486900" cy="76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2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5E36-9D7F-A08F-4361-0BB0FDA7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3A81924D-6225-E459-4946-F07796ABC7F8}"/>
              </a:ext>
            </a:extLst>
          </p:cNvPr>
          <p:cNvSpPr txBox="1"/>
          <p:nvPr/>
        </p:nvSpPr>
        <p:spPr>
          <a:xfrm>
            <a:off x="3924300" y="266700"/>
            <a:ext cx="104394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Essential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CB1A6-C5F5-E63A-FB7E-993BB47D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D73662-ABA7-B6DF-714A-50DE73DD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034"/>
          <a:stretch>
            <a:fillRect/>
          </a:stretch>
        </p:blipFill>
        <p:spPr>
          <a:xfrm>
            <a:off x="15849601" y="7555959"/>
            <a:ext cx="2438400" cy="260931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ACAD656-5083-F331-29C3-5993536D4E53}"/>
              </a:ext>
            </a:extLst>
          </p:cNvPr>
          <p:cNvGrpSpPr/>
          <p:nvPr/>
        </p:nvGrpSpPr>
        <p:grpSpPr>
          <a:xfrm>
            <a:off x="-341839" y="3397440"/>
            <a:ext cx="16767227" cy="5708460"/>
            <a:chOff x="-341839" y="3397440"/>
            <a:chExt cx="16767227" cy="570846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BF4F5F-0A7C-DC0F-572F-8887A7EE264B}"/>
                </a:ext>
              </a:extLst>
            </p:cNvPr>
            <p:cNvGrpSpPr/>
            <p:nvPr/>
          </p:nvGrpSpPr>
          <p:grpSpPr>
            <a:xfrm>
              <a:off x="-341839" y="3397440"/>
              <a:ext cx="16307083" cy="5708460"/>
              <a:chOff x="-341839" y="3397440"/>
              <a:chExt cx="16307083" cy="5708460"/>
            </a:xfrm>
          </p:grpSpPr>
          <p:grpSp>
            <p:nvGrpSpPr>
              <p:cNvPr id="4" name="Group 9">
                <a:extLst>
                  <a:ext uri="{FF2B5EF4-FFF2-40B4-BE49-F238E27FC236}">
                    <a16:creationId xmlns:a16="http://schemas.microsoft.com/office/drawing/2014/main" id="{CA9E1844-F53F-5496-E046-226CB0A1188B}"/>
                  </a:ext>
                </a:extLst>
              </p:cNvPr>
              <p:cNvGrpSpPr/>
              <p:nvPr/>
            </p:nvGrpSpPr>
            <p:grpSpPr>
              <a:xfrm rot="16200000">
                <a:off x="4957473" y="-1901872"/>
                <a:ext cx="5708460" cy="16307083"/>
                <a:chOff x="0" y="-47625"/>
                <a:chExt cx="366483" cy="2271900"/>
              </a:xfrm>
            </p:grpSpPr>
            <p:sp>
              <p:nvSpPr>
                <p:cNvPr id="5" name="Freeform 10">
                  <a:extLst>
                    <a:ext uri="{FF2B5EF4-FFF2-40B4-BE49-F238E27FC236}">
                      <a16:creationId xmlns:a16="http://schemas.microsoft.com/office/drawing/2014/main" id="{5FF6DAC8-D1E9-E64E-C3B3-AFDC19A7BD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66483" cy="222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483" h="2224275">
                      <a:moveTo>
                        <a:pt x="0" y="0"/>
                      </a:moveTo>
                      <a:lnTo>
                        <a:pt x="366483" y="0"/>
                      </a:lnTo>
                      <a:lnTo>
                        <a:pt x="366483" y="2224275"/>
                      </a:lnTo>
                      <a:lnTo>
                        <a:pt x="0" y="2224275"/>
                      </a:lnTo>
                      <a:close/>
                    </a:path>
                  </a:pathLst>
                </a:custGeom>
                <a:solidFill>
                  <a:srgbClr val="EAD6B8"/>
                </a:solidFill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" name="TextBox 11">
                  <a:extLst>
                    <a:ext uri="{FF2B5EF4-FFF2-40B4-BE49-F238E27FC236}">
                      <a16:creationId xmlns:a16="http://schemas.microsoft.com/office/drawing/2014/main" id="{F2F46011-4B6F-ED8B-C89A-2216F1F0FE3F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366483" cy="2271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12"/>
                    </a:lnSpc>
                  </a:pPr>
                  <a:endParaRPr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0B62DD3-6479-D1E3-8A1B-94A795C8AA3F}"/>
                  </a:ext>
                </a:extLst>
              </p:cNvPr>
              <p:cNvGrpSpPr/>
              <p:nvPr/>
            </p:nvGrpSpPr>
            <p:grpSpPr>
              <a:xfrm>
                <a:off x="2064385" y="3536585"/>
                <a:ext cx="9965769" cy="1606915"/>
                <a:chOff x="2526048" y="2047144"/>
                <a:chExt cx="9965769" cy="1606915"/>
              </a:xfrm>
            </p:grpSpPr>
            <p:sp>
              <p:nvSpPr>
                <p:cNvPr id="14" name="Freeform 10">
                  <a:extLst>
                    <a:ext uri="{FF2B5EF4-FFF2-40B4-BE49-F238E27FC236}">
                      <a16:creationId xmlns:a16="http://schemas.microsoft.com/office/drawing/2014/main" id="{802A240D-D256-24B5-7DFA-5F7BDE0304F8}"/>
                    </a:ext>
                  </a:extLst>
                </p:cNvPr>
                <p:cNvSpPr/>
                <p:nvPr/>
              </p:nvSpPr>
              <p:spPr>
                <a:xfrm>
                  <a:off x="2526048" y="2073986"/>
                  <a:ext cx="450213" cy="450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15" name="TextBox 17">
                  <a:extLst>
                    <a:ext uri="{FF2B5EF4-FFF2-40B4-BE49-F238E27FC236}">
                      <a16:creationId xmlns:a16="http://schemas.microsoft.com/office/drawing/2014/main" id="{1BEB5396-6DAB-B800-B747-3BF045DAE43A}"/>
                    </a:ext>
                  </a:extLst>
                </p:cNvPr>
                <p:cNvSpPr txBox="1"/>
                <p:nvPr/>
              </p:nvSpPr>
              <p:spPr>
                <a:xfrm>
                  <a:off x="3120692" y="2047144"/>
                  <a:ext cx="9371125" cy="1606915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250"/>
                    </a:lnSpc>
                    <a:spcBef>
                      <a:spcPct val="0"/>
                    </a:spcBef>
                  </a:pPr>
                  <a:r>
                    <a:rPr lang="en-US" sz="3000" b="1" dirty="0">
                      <a:solidFill>
                        <a:srgbClr val="705C40"/>
                      </a:solidFill>
                      <a:latin typeface="Inter Bold" panose="020B0604020202020204" charset="0"/>
                      <a:ea typeface="Inter Bold" panose="020B0604020202020204" charset="0"/>
                      <a:cs typeface="Inter Bold"/>
                      <a:sym typeface="Inter Bold"/>
                    </a:rPr>
                    <a:t>Data Integrity:</a:t>
                  </a:r>
                  <a:r>
                    <a:rPr lang="en-US" sz="3000" dirty="0">
                      <a:solidFill>
                        <a:srgbClr val="705C40"/>
                      </a:solidFill>
                      <a:latin typeface="Inter" panose="020B0604020202020204" charset="0"/>
                      <a:ea typeface="Inter" panose="020B0604020202020204" charset="0"/>
                      <a:cs typeface="Inter Bold"/>
                      <a:sym typeface="Inter Bold"/>
                    </a:rPr>
                    <a:t> Continuously log temperature, humidity, and noise with timestamps, enabling retrospective trend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94EE0B5-28BC-69AC-60DF-F16CD8809FDF}"/>
                </a:ext>
              </a:extLst>
            </p:cNvPr>
            <p:cNvGrpSpPr/>
            <p:nvPr/>
          </p:nvGrpSpPr>
          <p:grpSpPr>
            <a:xfrm>
              <a:off x="2064385" y="5231018"/>
              <a:ext cx="14361003" cy="2198482"/>
              <a:chOff x="2064385" y="5231018"/>
              <a:chExt cx="14361003" cy="219848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330E7D-280B-45E7-D174-7730ADD1CC41}"/>
                  </a:ext>
                </a:extLst>
              </p:cNvPr>
              <p:cNvSpPr txBox="1"/>
              <p:nvPr/>
            </p:nvSpPr>
            <p:spPr>
              <a:xfrm>
                <a:off x="2686243" y="5231018"/>
                <a:ext cx="13057808" cy="105548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4250"/>
                  </a:lnSpc>
                  <a:spcBef>
                    <a:spcPct val="0"/>
                  </a:spcBef>
                </a:pPr>
                <a:r>
                  <a:rPr lang="en-US" sz="3000" b="1" dirty="0">
                    <a:solidFill>
                      <a:srgbClr val="705C40"/>
                    </a:solidFill>
                    <a:latin typeface="Inter Bold" panose="020B0604020202020204" charset="0"/>
                    <a:ea typeface="Inter Bold" panose="020B0604020202020204" charset="0"/>
                    <a:cs typeface="Inter Bold"/>
                    <a:sym typeface="Inter Bold"/>
                  </a:rPr>
                  <a:t>Performance: </a:t>
                </a:r>
                <a:r>
                  <a:rPr lang="en-US" sz="3000" dirty="0">
                    <a:solidFill>
                      <a:srgbClr val="705C40"/>
                    </a:solidFill>
                    <a:latin typeface="Inter" panose="020B0604020202020204" charset="0"/>
                    <a:ea typeface="Inter" panose="020B0604020202020204" charset="0"/>
                    <a:cs typeface="Inter Bold"/>
                    <a:sym typeface="Inter Bold"/>
                  </a:rPr>
                  <a:t>Deliver alerts to the dashboard instantly via SSE, with web push fallback when the app is closed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1DA8D4F-6867-4593-1C17-22E7AF936A4E}"/>
                  </a:ext>
                </a:extLst>
              </p:cNvPr>
              <p:cNvGrpSpPr/>
              <p:nvPr/>
            </p:nvGrpSpPr>
            <p:grpSpPr>
              <a:xfrm>
                <a:off x="2064386" y="5302887"/>
                <a:ext cx="14361002" cy="2126613"/>
                <a:chOff x="2416212" y="3091895"/>
                <a:chExt cx="14361002" cy="2126613"/>
              </a:xfrm>
            </p:grpSpPr>
            <p:sp>
              <p:nvSpPr>
                <p:cNvPr id="20" name="Freeform 10">
                  <a:extLst>
                    <a:ext uri="{FF2B5EF4-FFF2-40B4-BE49-F238E27FC236}">
                      <a16:creationId xmlns:a16="http://schemas.microsoft.com/office/drawing/2014/main" id="{9E44ADB6-130B-51D9-29C5-42B371C8C067}"/>
                    </a:ext>
                  </a:extLst>
                </p:cNvPr>
                <p:cNvSpPr/>
                <p:nvPr/>
              </p:nvSpPr>
              <p:spPr>
                <a:xfrm>
                  <a:off x="2416212" y="3091895"/>
                  <a:ext cx="450213" cy="450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B99470"/>
                </a:solidFill>
              </p:spPr>
            </p:sp>
            <p:sp>
              <p:nvSpPr>
                <p:cNvPr id="21" name="TextBox 17">
                  <a:extLst>
                    <a:ext uri="{FF2B5EF4-FFF2-40B4-BE49-F238E27FC236}">
                      <a16:creationId xmlns:a16="http://schemas.microsoft.com/office/drawing/2014/main" id="{8B0B1339-3E0A-43B1-1ACC-DF3C86B7D4D3}"/>
                    </a:ext>
                  </a:extLst>
                </p:cNvPr>
                <p:cNvSpPr txBox="1"/>
                <p:nvPr/>
              </p:nvSpPr>
              <p:spPr>
                <a:xfrm>
                  <a:off x="3038069" y="4163026"/>
                  <a:ext cx="13739145" cy="105548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lvl="0" indent="0" algn="l">
                    <a:lnSpc>
                      <a:spcPts val="4250"/>
                    </a:lnSpc>
                    <a:spcBef>
                      <a:spcPct val="0"/>
                    </a:spcBef>
                  </a:pPr>
                  <a:r>
                    <a:rPr lang="en-US" sz="3000" b="1" dirty="0">
                      <a:solidFill>
                        <a:srgbClr val="705C40"/>
                      </a:solidFill>
                      <a:latin typeface="Inter Bold" panose="020B0604020202020204" charset="0"/>
                      <a:ea typeface="Inter Bold" panose="020B0604020202020204" charset="0"/>
                      <a:cs typeface="Inter Bold"/>
                      <a:sym typeface="Inter Bold"/>
                    </a:rPr>
                    <a:t>Functionality: </a:t>
                  </a:r>
                  <a:r>
                    <a:rPr lang="en-US" sz="3000" dirty="0">
                      <a:solidFill>
                        <a:srgbClr val="705C40"/>
                      </a:solidFill>
                      <a:latin typeface="Inter" panose="020B0604020202020204" charset="0"/>
                      <a:ea typeface="Inter" panose="020B0604020202020204" charset="0"/>
                      <a:cs typeface="Inter Bold"/>
                      <a:sym typeface="Inter Bold"/>
                    </a:rPr>
                    <a:t>Generate awakening insights by analyzing sensor-change magnitude in a configurable window before each wake-up event</a:t>
                  </a:r>
                </a:p>
              </p:txBody>
            </p:sp>
          </p:grp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A96948DB-B65B-8685-E6A9-291ACEE92E18}"/>
                  </a:ext>
                </a:extLst>
              </p:cNvPr>
              <p:cNvSpPr/>
              <p:nvPr/>
            </p:nvSpPr>
            <p:spPr>
              <a:xfrm>
                <a:off x="2064385" y="6426146"/>
                <a:ext cx="450213" cy="45021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9470"/>
              </a:solidFill>
            </p:spPr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D4E702-BA8A-6AA1-B7E3-FEA1E7D57185}"/>
              </a:ext>
            </a:extLst>
          </p:cNvPr>
          <p:cNvGrpSpPr/>
          <p:nvPr/>
        </p:nvGrpSpPr>
        <p:grpSpPr>
          <a:xfrm>
            <a:off x="2064385" y="7566436"/>
            <a:ext cx="12665360" cy="1055482"/>
            <a:chOff x="2064385" y="7566436"/>
            <a:chExt cx="12665360" cy="1055482"/>
          </a:xfrm>
        </p:grpSpPr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EE66DC8D-E8F3-2AE2-5C17-52728CAB9843}"/>
                </a:ext>
              </a:extLst>
            </p:cNvPr>
            <p:cNvSpPr txBox="1"/>
            <p:nvPr/>
          </p:nvSpPr>
          <p:spPr>
            <a:xfrm>
              <a:off x="2667000" y="7566436"/>
              <a:ext cx="12062745" cy="10554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25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705C40"/>
                  </a:solidFill>
                  <a:latin typeface="Inter Bold" panose="020B0604020202020204" charset="0"/>
                  <a:ea typeface="Inter Bold" panose="020B0604020202020204" charset="0"/>
                  <a:cs typeface="Inter Bold"/>
                  <a:sym typeface="Inter Bold"/>
                </a:rPr>
                <a:t>Usability: </a:t>
              </a:r>
              <a:r>
                <a:rPr lang="en-US" sz="30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cs typeface="Inter Bold"/>
                  <a:sym typeface="Inter Bold"/>
                </a:rPr>
                <a:t>Provide a context-aware AI chat that answers parent questions using the baby's full stored context</a:t>
              </a: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CC8D480-F1EF-6B4E-525B-48D88DFE4AAC}"/>
                </a:ext>
              </a:extLst>
            </p:cNvPr>
            <p:cNvSpPr/>
            <p:nvPr/>
          </p:nvSpPr>
          <p:spPr>
            <a:xfrm>
              <a:off x="2064385" y="7594546"/>
              <a:ext cx="450213" cy="45021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9470"/>
            </a:solidFill>
          </p:spPr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C61C3CD2-4B90-239B-3F68-B97E8BF5D8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529" r="33384"/>
          <a:stretch>
            <a:fillRect/>
          </a:stretch>
        </p:blipFill>
        <p:spPr>
          <a:xfrm>
            <a:off x="16233011" y="-19286"/>
            <a:ext cx="2054989" cy="266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0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237E-9E44-E56B-13E9-7B1E653C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965355-016D-AF3E-6608-02BB56E00A01}"/>
              </a:ext>
            </a:extLst>
          </p:cNvPr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D87EEC-BF20-8A78-3D64-363242442025}"/>
                </a:ext>
              </a:extLst>
            </p:cNvPr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D2F037-0609-5534-261A-3CA246F02986}"/>
                </a:ext>
              </a:extLst>
            </p:cNvPr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CF333CD-DA4A-4D3C-2CB7-B01CF6248A38}"/>
              </a:ext>
            </a:extLst>
          </p:cNvPr>
          <p:cNvSpPr txBox="1"/>
          <p:nvPr/>
        </p:nvSpPr>
        <p:spPr>
          <a:xfrm>
            <a:off x="0" y="290001"/>
            <a:ext cx="5624213" cy="2360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IoT Edge Device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3551-3AF2-019E-B663-BC45A2DF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97437C-8150-E25A-52EB-808BA351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2A2602-0E40-A566-DB78-4AADF8953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9C9571-6FEF-9C92-C453-3C996C6CC2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2"/>
          <a:stretch>
            <a:fillRect/>
          </a:stretch>
        </p:blipFill>
        <p:spPr bwMode="auto">
          <a:xfrm>
            <a:off x="221736" y="6358549"/>
            <a:ext cx="2699934" cy="30412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D48F9-58ED-BA85-47E7-F043965D800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56"/>
          <a:stretch>
            <a:fillRect/>
          </a:stretch>
        </p:blipFill>
        <p:spPr bwMode="auto">
          <a:xfrm>
            <a:off x="539502" y="2973241"/>
            <a:ext cx="1795273" cy="13641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5D8A03-E38F-6F36-B744-81941483DE5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31" b="5571"/>
          <a:stretch>
            <a:fillRect/>
          </a:stretch>
        </p:blipFill>
        <p:spPr bwMode="auto">
          <a:xfrm>
            <a:off x="2995294" y="3020031"/>
            <a:ext cx="1795273" cy="13173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0CC3D-6D4D-5583-E7CB-241DFD14463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4" t="11679" r="25196" b="12876"/>
          <a:stretch>
            <a:fillRect/>
          </a:stretch>
        </p:blipFill>
        <p:spPr bwMode="auto">
          <a:xfrm>
            <a:off x="884907" y="4791417"/>
            <a:ext cx="991038" cy="14523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053B0F-98A6-6B12-E804-305CF0FBCFC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t="9963" r="18450" b="11070"/>
          <a:stretch>
            <a:fillRect/>
          </a:stretch>
        </p:blipFill>
        <p:spPr bwMode="auto">
          <a:xfrm>
            <a:off x="3530526" y="4928552"/>
            <a:ext cx="1103334" cy="13406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20062-BAD2-29F0-7B04-D22C1E80119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6" b="7941"/>
          <a:stretch>
            <a:fillRect/>
          </a:stretch>
        </p:blipFill>
        <p:spPr bwMode="auto">
          <a:xfrm>
            <a:off x="3359570" y="6345387"/>
            <a:ext cx="2046414" cy="30719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118;p4">
            <a:extLst>
              <a:ext uri="{FF2B5EF4-FFF2-40B4-BE49-F238E27FC236}">
                <a16:creationId xmlns:a16="http://schemas.microsoft.com/office/drawing/2014/main" id="{41FEEDEF-42C5-8524-4D7C-2EF065ED996C}"/>
              </a:ext>
            </a:extLst>
          </p:cNvPr>
          <p:cNvSpPr txBox="1"/>
          <p:nvPr/>
        </p:nvSpPr>
        <p:spPr>
          <a:xfrm>
            <a:off x="5820908" y="2438561"/>
            <a:ext cx="12660280" cy="670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4250"/>
              </a:lnSpc>
              <a:spcBef>
                <a:spcPct val="0"/>
              </a:spcBef>
              <a:buClr>
                <a:srgbClr val="000000"/>
              </a:buClr>
              <a:buSzPts val="2500"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Main microcontroller: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M5Stack Core2 + M5GO2</a:t>
            </a:r>
          </a:p>
          <a:p>
            <a:pPr>
              <a:lnSpc>
                <a:spcPts val="4250"/>
              </a:lnSpc>
              <a:spcBef>
                <a:spcPct val="0"/>
              </a:spcBef>
              <a:buClr>
                <a:srgbClr val="000000"/>
              </a:buClr>
              <a:buSzPts val="2500"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Communication: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Sensor readings assembled as JSON, served via HTTP endpoint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Backend scheduler polls at configurable interval (5s default)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M5Stack sends HTTP POST for sleep-state changes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 (sleep-start, sleep-end, baby-away)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b="1" dirty="0">
              <a:solidFill>
                <a:srgbClr val="705C40"/>
              </a:solidFill>
              <a:latin typeface="Inter Bold"/>
              <a:ea typeface="Inter Bold"/>
              <a:sym typeface="Inter"/>
            </a:endParaRP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Runtime: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Single </a:t>
            </a:r>
            <a:r>
              <a:rPr lang="en-US" sz="3000" dirty="0" err="1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MicroPython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event loop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Handles sensors + HTTP server + </a:t>
            </a:r>
            <a:r>
              <a:rPr lang="en-US" sz="3000" dirty="0" err="1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WiFi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on one thread</a:t>
            </a:r>
          </a:p>
          <a:p>
            <a:pPr marR="0" indent="0">
              <a:lnSpc>
                <a:spcPts val="425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Camera verdict debouncing for stable state detection</a:t>
            </a:r>
          </a:p>
        </p:txBody>
      </p:sp>
    </p:spTree>
    <p:extLst>
      <p:ext uri="{BB962C8B-B14F-4D97-AF65-F5344CB8AC3E}">
        <p14:creationId xmlns:p14="http://schemas.microsoft.com/office/powerpoint/2010/main" val="413015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506F-311C-41E6-8D2F-8A3090B9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691C6A-E1E8-C25B-502A-A54F80513EED}"/>
              </a:ext>
            </a:extLst>
          </p:cNvPr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CC0E1D-FC53-E436-F6E1-B76ACBBE2BC4}"/>
                </a:ext>
              </a:extLst>
            </p:cNvPr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8478D-E96D-8E32-B4BB-3BD5CC9FF8A3}"/>
                </a:ext>
              </a:extLst>
            </p:cNvPr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D8A0DAFD-70F4-9C6F-F70C-D0D960652290}"/>
              </a:ext>
            </a:extLst>
          </p:cNvPr>
          <p:cNvSpPr txBox="1"/>
          <p:nvPr/>
        </p:nvSpPr>
        <p:spPr>
          <a:xfrm>
            <a:off x="0" y="290001"/>
            <a:ext cx="5624213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buClr>
                <a:srgbClr val="000000"/>
              </a:buClr>
              <a:buSzPts val="3600"/>
            </a:pPr>
            <a: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Real-Time Alerting System</a:t>
            </a:r>
            <a:endParaRPr lang="en-US" sz="3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39E6E-026D-06CC-40CE-BBBBD466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AE2FDA-4D96-0D51-FAD9-702B7F588E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B1E769-4C5D-AEF8-7BE3-CDBC2B4E39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  <p:sp>
        <p:nvSpPr>
          <p:cNvPr id="6" name="Google Shape;150;p8">
            <a:extLst>
              <a:ext uri="{FF2B5EF4-FFF2-40B4-BE49-F238E27FC236}">
                <a16:creationId xmlns:a16="http://schemas.microsoft.com/office/drawing/2014/main" id="{446B6650-B789-8EE6-9B56-E35276F147B5}"/>
              </a:ext>
            </a:extLst>
          </p:cNvPr>
          <p:cNvSpPr txBox="1"/>
          <p:nvPr/>
        </p:nvSpPr>
        <p:spPr>
          <a:xfrm>
            <a:off x="5943600" y="1951994"/>
            <a:ext cx="12344400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The system creates alerts for key events and delivers them in real time:</a:t>
            </a:r>
            <a:endParaRPr sz="3000" b="1" dirty="0">
              <a:solidFill>
                <a:srgbClr val="705C40"/>
              </a:solidFill>
              <a:latin typeface="Inter Bold"/>
              <a:ea typeface="Inter Bold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Baby wake-up alerts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Sensor threshold warnings (temperature, humidity, noise)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Read/unread state with unread counter per user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Severity levels in each alert for prioritization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Delivery Channels:</a:t>
            </a:r>
            <a:endParaRPr sz="3000" b="1" dirty="0">
              <a:solidFill>
                <a:srgbClr val="705C40"/>
              </a:solidFill>
              <a:latin typeface="Inter Bold"/>
              <a:ea typeface="Inter Bold"/>
              <a:sym typeface="Arial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Server-Sent Events - live updates to connected frontend clients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Web Push Notifications (VAPID) - when the app is not open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Alert history stored per user with baby’s id reference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970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03F1-0471-7E66-AE3C-535B923B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21B6FE04-04D0-C068-2EAC-FEC7B016564D}"/>
              </a:ext>
            </a:extLst>
          </p:cNvPr>
          <p:cNvSpPr txBox="1"/>
          <p:nvPr/>
        </p:nvSpPr>
        <p:spPr>
          <a:xfrm>
            <a:off x="3924300" y="266700"/>
            <a:ext cx="10439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ea typeface="Poppins Bold"/>
                <a:cs typeface="Poppins Bold"/>
                <a:sym typeface="Poppins Bold"/>
              </a:rPr>
              <a:t>Key Backend Services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15204A-833F-A129-8852-763DF700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ACD31-CF48-C56B-8CB2-50AF38F6A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034"/>
          <a:stretch>
            <a:fillRect/>
          </a:stretch>
        </p:blipFill>
        <p:spPr>
          <a:xfrm>
            <a:off x="15849601" y="7555959"/>
            <a:ext cx="2438400" cy="2609314"/>
          </a:xfrm>
          <a:prstGeom prst="rect">
            <a:avLst/>
          </a:prstGeom>
        </p:spPr>
      </p:pic>
      <p:grpSp>
        <p:nvGrpSpPr>
          <p:cNvPr id="4" name="Group 9">
            <a:extLst>
              <a:ext uri="{FF2B5EF4-FFF2-40B4-BE49-F238E27FC236}">
                <a16:creationId xmlns:a16="http://schemas.microsoft.com/office/drawing/2014/main" id="{FF8EA1F8-AE9E-A3B3-454D-F9A79ECD63CA}"/>
              </a:ext>
            </a:extLst>
          </p:cNvPr>
          <p:cNvGrpSpPr/>
          <p:nvPr/>
        </p:nvGrpSpPr>
        <p:grpSpPr>
          <a:xfrm rot="16200000">
            <a:off x="4535104" y="-2324242"/>
            <a:ext cx="6553200" cy="16307083"/>
            <a:chOff x="0" y="-47625"/>
            <a:chExt cx="366483" cy="2271900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5FDC3DBE-FF8C-B6EC-A0BE-EDB766EC977D}"/>
                </a:ext>
              </a:extLst>
            </p:cNvPr>
            <p:cNvSpPr/>
            <p:nvPr/>
          </p:nvSpPr>
          <p:spPr>
            <a:xfrm>
              <a:off x="0" y="0"/>
              <a:ext cx="366483" cy="2224275"/>
            </a:xfrm>
            <a:custGeom>
              <a:avLst/>
              <a:gdLst/>
              <a:ahLst/>
              <a:cxnLst/>
              <a:rect l="l" t="t" r="r" b="b"/>
              <a:pathLst>
                <a:path w="366483" h="2224275">
                  <a:moveTo>
                    <a:pt x="0" y="0"/>
                  </a:moveTo>
                  <a:lnTo>
                    <a:pt x="366483" y="0"/>
                  </a:lnTo>
                  <a:lnTo>
                    <a:pt x="366483" y="2224275"/>
                  </a:lnTo>
                  <a:lnTo>
                    <a:pt x="0" y="2224275"/>
                  </a:lnTo>
                  <a:close/>
                </a:path>
              </a:pathLst>
            </a:custGeom>
            <a:solidFill>
              <a:srgbClr val="EAD6B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951C6811-91AD-262E-02E1-9C0C6885B972}"/>
                </a:ext>
              </a:extLst>
            </p:cNvPr>
            <p:cNvSpPr txBox="1"/>
            <p:nvPr/>
          </p:nvSpPr>
          <p:spPr>
            <a:xfrm>
              <a:off x="0" y="-47625"/>
              <a:ext cx="366483" cy="227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E0B3D97-DDD7-E644-DC1C-A734826F5D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529" r="33384"/>
          <a:stretch>
            <a:fillRect/>
          </a:stretch>
        </p:blipFill>
        <p:spPr>
          <a:xfrm>
            <a:off x="16233011" y="-19286"/>
            <a:ext cx="2054989" cy="2666272"/>
          </a:xfrm>
          <a:prstGeom prst="rect">
            <a:avLst/>
          </a:prstGeom>
        </p:spPr>
      </p:pic>
      <p:sp>
        <p:nvSpPr>
          <p:cNvPr id="9" name="Google Shape;126;p5">
            <a:extLst>
              <a:ext uri="{FF2B5EF4-FFF2-40B4-BE49-F238E27FC236}">
                <a16:creationId xmlns:a16="http://schemas.microsoft.com/office/drawing/2014/main" id="{021E9DF1-585C-C36A-FE83-F11EBE241DB5}"/>
              </a:ext>
            </a:extLst>
          </p:cNvPr>
          <p:cNvSpPr txBox="1"/>
          <p:nvPr/>
        </p:nvSpPr>
        <p:spPr>
          <a:xfrm>
            <a:off x="1524000" y="2857500"/>
            <a:ext cx="14173200" cy="55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Sleep State Manager: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Live sleep tracking &amp; intervention pacing.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Alert Service: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Real-time notifications for awakenings and sensor thresholds.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Correlation Analyzer: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AI-driven insights from post-sleep sensor data.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Trend Analyzer: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Weekly/monthly summaries, consistency scoring,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age-aware comparisons.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Schedule Predictor: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Pattern-based sleep forecasting.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705C4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Chat Service:</a:t>
            </a: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Arial"/>
              </a:rPr>
              <a:t>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Context-aware AI caregiver assistance.</a:t>
            </a:r>
            <a:endParaRPr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062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2F89-6456-533B-0732-A9CC1452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F210E1-F4C8-28CD-5B4A-244DF4767142}"/>
              </a:ext>
            </a:extLst>
          </p:cNvPr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A696E3-A1FF-32F4-383C-C0C592FAD80A}"/>
                </a:ext>
              </a:extLst>
            </p:cNvPr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3ED18BD-D69B-DAED-9AED-903C6EF21401}"/>
                </a:ext>
              </a:extLst>
            </p:cNvPr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58A2BE8F-B89D-F1BB-9F65-01651B56D2FC}"/>
              </a:ext>
            </a:extLst>
          </p:cNvPr>
          <p:cNvSpPr txBox="1"/>
          <p:nvPr/>
        </p:nvSpPr>
        <p:spPr>
          <a:xfrm>
            <a:off x="0" y="524113"/>
            <a:ext cx="5624213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buClr>
                <a:srgbClr val="000000"/>
              </a:buClr>
              <a:buSzPts val="3600"/>
            </a:pPr>
            <a: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Awakening Correlation</a:t>
            </a:r>
            <a:b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EE70C-AF41-9888-C57C-8D8563CE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A5977E-F4E7-F8DE-1078-3F79756E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49CD0E-A197-E799-3DA5-9BDD8C7B45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705106-A8B2-22AB-CBAC-7ABDF5AD26AE}"/>
              </a:ext>
            </a:extLst>
          </p:cNvPr>
          <p:cNvSpPr txBox="1"/>
          <p:nvPr/>
        </p:nvSpPr>
        <p:spPr>
          <a:xfrm>
            <a:off x="5872941" y="2629320"/>
            <a:ext cx="121920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Triggered automatically on each sleep-end event: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   1. 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Retrieve sensor readings from the hour preceding awakening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2.  Split readings into first 25% and last 25% time windows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3.  Calculate percentage change per parameter (temp, humidity,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   noise)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4.  Filter only significant changes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5.  Send significant changes to Gemini AI for structured insight 	generation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6.  Store correlation record linked to the awakening event</a:t>
            </a: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91A9F-2DDB-D847-3CF2-58AE1DCF955E}"/>
              </a:ext>
            </a:extLst>
          </p:cNvPr>
          <p:cNvSpPr txBox="1"/>
          <p:nvPr/>
        </p:nvSpPr>
        <p:spPr>
          <a:xfrm>
            <a:off x="6019800" y="7657682"/>
            <a:ext cx="1219200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This allows parents to understand not just when their baby woke up, but what environmental factors may have contributed to the awakening.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43054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F6BA-9CA3-2A97-6A89-8B3EE945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CA37F4-B83A-C1E0-A55A-7042B999FE2B}"/>
              </a:ext>
            </a:extLst>
          </p:cNvPr>
          <p:cNvGrpSpPr/>
          <p:nvPr/>
        </p:nvGrpSpPr>
        <p:grpSpPr>
          <a:xfrm>
            <a:off x="5638801" y="1"/>
            <a:ext cx="12660280" cy="10287000"/>
            <a:chOff x="0" y="0"/>
            <a:chExt cx="3105469" cy="296037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6BA5F2-345B-2954-18EA-E67063C10692}"/>
                </a:ext>
              </a:extLst>
            </p:cNvPr>
            <p:cNvSpPr/>
            <p:nvPr/>
          </p:nvSpPr>
          <p:spPr>
            <a:xfrm>
              <a:off x="0" y="0"/>
              <a:ext cx="3105469" cy="2960376"/>
            </a:xfrm>
            <a:custGeom>
              <a:avLst/>
              <a:gdLst/>
              <a:ahLst/>
              <a:cxnLst/>
              <a:rect l="l" t="t" r="r" b="b"/>
              <a:pathLst>
                <a:path w="3105469" h="2960376">
                  <a:moveTo>
                    <a:pt x="0" y="0"/>
                  </a:moveTo>
                  <a:lnTo>
                    <a:pt x="3105469" y="0"/>
                  </a:lnTo>
                  <a:lnTo>
                    <a:pt x="3105469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7BB81B-6D5A-7E87-4960-0728956A4970}"/>
                </a:ext>
              </a:extLst>
            </p:cNvPr>
            <p:cNvSpPr txBox="1"/>
            <p:nvPr/>
          </p:nvSpPr>
          <p:spPr>
            <a:xfrm>
              <a:off x="0" y="-47625"/>
              <a:ext cx="3105469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531B30DD-8D1C-DDE3-C8A4-A9B5C391673F}"/>
              </a:ext>
            </a:extLst>
          </p:cNvPr>
          <p:cNvSpPr txBox="1"/>
          <p:nvPr/>
        </p:nvSpPr>
        <p:spPr>
          <a:xfrm>
            <a:off x="0" y="524113"/>
            <a:ext cx="5624213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buClr>
                <a:srgbClr val="000000"/>
              </a:buClr>
              <a:buSzPts val="3600"/>
            </a:pPr>
            <a: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Context Aware </a:t>
            </a:r>
            <a:b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7200" b="1" dirty="0">
                <a:solidFill>
                  <a:srgbClr val="705C40"/>
                </a:solidFill>
                <a:latin typeface="Poppins"/>
                <a:ea typeface="Poppins"/>
                <a:cs typeface="Poppins"/>
                <a:sym typeface="Poppins"/>
              </a:rPr>
              <a:t>AI Chat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34604-FDB8-659C-2431-03B03734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DF252F-7FC7-FFF8-8602-17DD2A9B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38" r="49373"/>
          <a:stretch>
            <a:fillRect/>
          </a:stretch>
        </p:blipFill>
        <p:spPr>
          <a:xfrm>
            <a:off x="16650886" y="0"/>
            <a:ext cx="1648194" cy="1613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A5D04D-ED10-BFD0-1A40-78B5623CA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32" t="-20087" b="-1"/>
          <a:stretch>
            <a:fillRect/>
          </a:stretch>
        </p:blipFill>
        <p:spPr>
          <a:xfrm>
            <a:off x="0" y="9540148"/>
            <a:ext cx="3892931" cy="292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FC5419-3F93-A5EF-B9F5-BAB0935C680A}"/>
              </a:ext>
            </a:extLst>
          </p:cNvPr>
          <p:cNvSpPr txBox="1"/>
          <p:nvPr/>
        </p:nvSpPr>
        <p:spPr>
          <a:xfrm>
            <a:off x="5872941" y="1951994"/>
            <a:ext cx="12192000" cy="61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Context Built From Stored Data: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Baby profile and caregiver notes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Optimal stats (best sleep conditions for this baby)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Recent awakenings with AI-generated insights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Recent correlations and daily summaries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Monthly sleep patterns and latest room readings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>
              <a:buClr>
                <a:srgbClr val="000000"/>
              </a:buClr>
              <a:buSzPts val="2500"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Design Principles: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Gentle, supportive tone - never alarming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All Gemini calls are synchronous, run in executor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60-second timeout for complex queries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Responses based on baby's actual data, not generic advice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47264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C33C-90FB-F83F-C35C-8645E586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7645025-2645-39B9-45BB-4309EB109DBD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DAF524-3687-A503-33F6-DE5AAC1AF9C3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EC87522-CA0E-ABFF-9E34-B06151C2CC57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F160AC1-79B5-0327-D7AE-C1C06631662E}"/>
              </a:ext>
            </a:extLst>
          </p:cNvPr>
          <p:cNvSpPr txBox="1"/>
          <p:nvPr/>
        </p:nvSpPr>
        <p:spPr>
          <a:xfrm>
            <a:off x="3500137" y="557775"/>
            <a:ext cx="11282699" cy="11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Database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60ED4-2E51-B58D-9860-8877146C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07C7CA-1CB2-D18F-9270-48FAFA2E8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A9619-663F-B530-B837-2775A2418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8" y="2692219"/>
            <a:ext cx="4038600" cy="7011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28185E-A8A7-3823-69F5-B3132B359B54}"/>
              </a:ext>
            </a:extLst>
          </p:cNvPr>
          <p:cNvSpPr txBox="1"/>
          <p:nvPr/>
        </p:nvSpPr>
        <p:spPr>
          <a:xfrm>
            <a:off x="5566815" y="3993610"/>
            <a:ext cx="1219200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PostgreSQL (Neon serverless) - Schema: “Nappi”: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b="1" dirty="0">
              <a:solidFill>
                <a:srgbClr val="705C40"/>
              </a:solidFill>
              <a:latin typeface="Inter Bold"/>
              <a:ea typeface="Inter Bold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Tables hold babies/caregivers, sleep sessions, sensor   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 readings, alerts, and derived summaries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Daily aggregation inserts summary/optimal rows and removes  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older raw real-time rows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•  Automated seeding clears the tables and reloads a consistent </a:t>
            </a:r>
            <a:b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</a:b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     mock dataset each run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6980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68B8-234B-20B1-DFC0-2E1E9828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D6C8B9-51A8-FDF2-0A27-A5AE16286B67}"/>
              </a:ext>
            </a:extLst>
          </p:cNvPr>
          <p:cNvGrpSpPr/>
          <p:nvPr/>
        </p:nvGrpSpPr>
        <p:grpSpPr>
          <a:xfrm>
            <a:off x="-1" y="2074400"/>
            <a:ext cx="18288001" cy="6421900"/>
            <a:chOff x="0" y="0"/>
            <a:chExt cx="5295481" cy="1052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AB2CE0-3F19-FD32-CED0-DC2C515E2E29}"/>
                </a:ext>
              </a:extLst>
            </p:cNvPr>
            <p:cNvSpPr/>
            <p:nvPr/>
          </p:nvSpPr>
          <p:spPr>
            <a:xfrm>
              <a:off x="0" y="0"/>
              <a:ext cx="5295481" cy="1052333"/>
            </a:xfrm>
            <a:custGeom>
              <a:avLst/>
              <a:gdLst/>
              <a:ahLst/>
              <a:cxnLst/>
              <a:rect l="l" t="t" r="r" b="b"/>
              <a:pathLst>
                <a:path w="5295481" h="1052333">
                  <a:moveTo>
                    <a:pt x="0" y="0"/>
                  </a:moveTo>
                  <a:lnTo>
                    <a:pt x="5295481" y="0"/>
                  </a:lnTo>
                  <a:lnTo>
                    <a:pt x="5295481" y="1052333"/>
                  </a:lnTo>
                  <a:lnTo>
                    <a:pt x="0" y="1052333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590234-8565-8984-CEA1-0BE1E70FFFB1}"/>
                </a:ext>
              </a:extLst>
            </p:cNvPr>
            <p:cNvSpPr txBox="1"/>
            <p:nvPr/>
          </p:nvSpPr>
          <p:spPr>
            <a:xfrm>
              <a:off x="0" y="-47625"/>
              <a:ext cx="5295481" cy="1099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EBC297F-9BE2-DD53-4525-A24ED6D41FB2}"/>
              </a:ext>
            </a:extLst>
          </p:cNvPr>
          <p:cNvSpPr txBox="1"/>
          <p:nvPr/>
        </p:nvSpPr>
        <p:spPr>
          <a:xfrm>
            <a:off x="3295720" y="469190"/>
            <a:ext cx="11696560" cy="151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Poppins Bold"/>
              </a:rPr>
              <a:t>Key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3C1D0-4D8D-6CA0-C59D-8DECB143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68F71-CEAB-3945-C40A-EA1FD6314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28"/>
          <a:stretch>
            <a:fillRect/>
          </a:stretch>
        </p:blipFill>
        <p:spPr>
          <a:xfrm rot="10800000">
            <a:off x="15316200" y="8574709"/>
            <a:ext cx="2700762" cy="1712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3FCAA-3E96-4FCE-A3C4-894D8076CC6E}"/>
              </a:ext>
            </a:extLst>
          </p:cNvPr>
          <p:cNvSpPr txBox="1"/>
          <p:nvPr/>
        </p:nvSpPr>
        <p:spPr>
          <a:xfrm>
            <a:off x="271038" y="2687170"/>
            <a:ext cx="17483562" cy="676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Sleep Pattern Clustering: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Groups monthly sleep sessions by time-of-day using a 2-hour gap rule, then summarizes each cluster’s typical start/end/duration.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Sleep Block Grouping: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Merges nearby wake events into one “sleep block” so brief wake-ups aren’t counted as separate sessions, and outputs sleep minutes + interruption count.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Trend Analysis: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Builds 7/30-day summaries from sleep blocks (daily hours, sessions), adds a consistency score and simple direction (improving / stable / declining), with optional AI notes.</a:t>
            </a: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r>
              <a:rPr lang="en-US" sz="3000" b="1" dirty="0">
                <a:solidFill>
                  <a:srgbClr val="705C40"/>
                </a:solidFill>
                <a:latin typeface="Inter Bold"/>
                <a:ea typeface="Inter Bold"/>
                <a:sym typeface="Inter"/>
              </a:rPr>
              <a:t>Schedule Prediction: </a:t>
            </a:r>
            <a:r>
              <a:rPr lang="en-US" sz="30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Estimates the next sleep time using age-based wake windows + recent awakenings, with confidence levels and fallbacks to learned patterns or time-of-day rules.</a:t>
            </a:r>
          </a:p>
          <a:p>
            <a:pPr>
              <a:spcBef>
                <a:spcPts val="200"/>
              </a:spcBef>
              <a:buClr>
                <a:srgbClr val="000000"/>
              </a:buClr>
              <a:buSzPts val="2500"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3000" dirty="0">
              <a:solidFill>
                <a:srgbClr val="705C40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78583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EDF-E573-E564-907C-52194D95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1B09894-B235-B936-071D-B1CC40F23084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E9AA005-717A-E000-1FD0-75CA4256A742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2A6A608-60A8-1A12-B953-AA505A9BDFA9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2234FB8C-CBE3-38E0-68E3-4D82D19AFA34}"/>
              </a:ext>
            </a:extLst>
          </p:cNvPr>
          <p:cNvSpPr txBox="1"/>
          <p:nvPr/>
        </p:nvSpPr>
        <p:spPr>
          <a:xfrm>
            <a:off x="3500137" y="557775"/>
            <a:ext cx="11282699" cy="11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</a:rPr>
              <a:t>Evaluation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FE24A-0376-A649-4AF4-2D25DF3B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810280-420F-B55A-D888-20F22B59B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65611-9DDB-5D77-9F70-5039663D4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512110"/>
              </p:ext>
            </p:extLst>
          </p:nvPr>
        </p:nvGraphicFramePr>
        <p:xfrm>
          <a:off x="607086" y="2931634"/>
          <a:ext cx="17068800" cy="6400800"/>
        </p:xfrm>
        <a:graphic>
          <a:graphicData uri="http://schemas.openxmlformats.org/drawingml/2006/table">
            <a:tbl>
              <a:tblPr firstRow="1" bandRow="1"/>
              <a:tblGrid>
                <a:gridCol w="2514600">
                  <a:extLst>
                    <a:ext uri="{9D8B030D-6E8A-4147-A177-3AD203B41FA5}">
                      <a16:colId xmlns:a16="http://schemas.microsoft.com/office/drawing/2014/main" val="739328640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4064110692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1089984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61631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82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  <a:cs typeface="Inter Bold"/>
                          <a:sym typeface="Inter Bold"/>
                        </a:rPr>
                        <a:t>Real-time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  <a:cs typeface="Inter Bold"/>
                          <a:sym typeface="Inter Bold"/>
                        </a:rPr>
                        <a:t>Run M5Stack demo mode (simulated sleep cycle) and verify logger and database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  <a:cs typeface="Inter Bold"/>
                          <a:sym typeface="Inter Bold"/>
                        </a:rPr>
                        <a:t>Sensor's data polled every 5s with live SSE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3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  <a:cs typeface="Inter Bold"/>
                        <a:sym typeface="Inter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9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AI Context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10 fixed caregiver prompts, manual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≥ 80% answers are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relevant and baby-specific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  <a:cs typeface="Inter Bold"/>
                        <a:sym typeface="Inter Bold"/>
                      </a:endParaRPr>
                    </a:p>
                    <a:p>
                      <a:pPr marL="0" algn="l" defTabSz="914400" rtl="0" eaLnBrk="1" latinLnBrk="0" hangingPunct="1"/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14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Statistics Screen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Render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Measure statistics page graphs UI refresh time after changing sensor or 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≤ 2 seconds per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  <a:cs typeface="Inter Bold"/>
                        <a:sym typeface="Inter Bold"/>
                      </a:endParaRPr>
                    </a:p>
                    <a:p>
                      <a:pPr marL="0" algn="ctr" defTabSz="914400" rtl="0" eaLnBrk="1" latinLnBrk="0" hangingPunct="1"/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1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1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Alert Delivery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Trigger alerts, measure times from backend logged alert to server sent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200" dirty="0">
                          <a:solidFill>
                            <a:srgbClr val="705C40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≤ 2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  <a:cs typeface="Inter Bold"/>
                        <a:sym typeface="Inter Bold"/>
                      </a:endParaRPr>
                    </a:p>
                    <a:p>
                      <a:pPr marL="0" algn="ctr" defTabSz="914400" rtl="0" eaLnBrk="1" latinLnBrk="0" hangingPunct="1"/>
                      <a:endParaRPr lang="en-US" sz="3000" b="1" kern="1200" dirty="0">
                        <a:solidFill>
                          <a:srgbClr val="705C40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37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159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4074-8FF8-755B-DF76-054D2BA3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0FCF8-6B1F-628E-3192-2629D826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45690-8B90-A50C-8C40-C31B53D28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74" t="35406"/>
          <a:stretch>
            <a:fillRect/>
          </a:stretch>
        </p:blipFill>
        <p:spPr>
          <a:xfrm>
            <a:off x="0" y="0"/>
            <a:ext cx="2362200" cy="2988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17C6F1-3AF0-CE02-5170-225EB0E41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3" t="35406"/>
          <a:stretch>
            <a:fillRect/>
          </a:stretch>
        </p:blipFill>
        <p:spPr>
          <a:xfrm rot="10800000">
            <a:off x="16687800" y="7298036"/>
            <a:ext cx="1600200" cy="2988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35A356-7339-B37D-0DAD-BC2ED430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4" t="18795"/>
          <a:stretch>
            <a:fillRect/>
          </a:stretch>
        </p:blipFill>
        <p:spPr>
          <a:xfrm>
            <a:off x="17582825" y="-1"/>
            <a:ext cx="247975" cy="594080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917F672-F8D4-A748-A63E-083CC16DE48B}"/>
              </a:ext>
            </a:extLst>
          </p:cNvPr>
          <p:cNvGrpSpPr/>
          <p:nvPr/>
        </p:nvGrpSpPr>
        <p:grpSpPr>
          <a:xfrm>
            <a:off x="609600" y="2103120"/>
            <a:ext cx="16855560" cy="7863720"/>
            <a:chOff x="609600" y="2103120"/>
            <a:chExt cx="16855560" cy="7863720"/>
          </a:xfrm>
        </p:grpSpPr>
        <p:sp>
          <p:nvSpPr>
            <p:cNvPr id="7" name="Google Shape;274;g3cb949e056b_13_124">
              <a:extLst>
                <a:ext uri="{FF2B5EF4-FFF2-40B4-BE49-F238E27FC236}">
                  <a16:creationId xmlns:a16="http://schemas.microsoft.com/office/drawing/2014/main" id="{36A5F3F3-BD01-3132-FB30-68EBB620ED2F}"/>
                </a:ext>
              </a:extLst>
            </p:cNvPr>
            <p:cNvSpPr/>
            <p:nvPr/>
          </p:nvSpPr>
          <p:spPr>
            <a:xfrm>
              <a:off x="822960" y="2834640"/>
              <a:ext cx="16642200" cy="54900"/>
            </a:xfrm>
            <a:prstGeom prst="rect">
              <a:avLst/>
            </a:prstGeom>
            <a:solidFill>
              <a:srgbClr val="8B735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75;g3cb949e056b_13_124">
              <a:extLst>
                <a:ext uri="{FF2B5EF4-FFF2-40B4-BE49-F238E27FC236}">
                  <a16:creationId xmlns:a16="http://schemas.microsoft.com/office/drawing/2014/main" id="{C3AC6916-9A8A-E0F5-DE85-7292B422FA86}"/>
                </a:ext>
              </a:extLst>
            </p:cNvPr>
            <p:cNvSpPr/>
            <p:nvPr/>
          </p:nvSpPr>
          <p:spPr>
            <a:xfrm>
              <a:off x="2255520" y="2697480"/>
              <a:ext cx="329100" cy="329100"/>
            </a:xfrm>
            <a:prstGeom prst="ellipse">
              <a:avLst/>
            </a:prstGeom>
            <a:solidFill>
              <a:srgbClr val="7B9E6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76;g3cb949e056b_13_124">
              <a:extLst>
                <a:ext uri="{FF2B5EF4-FFF2-40B4-BE49-F238E27FC236}">
                  <a16:creationId xmlns:a16="http://schemas.microsoft.com/office/drawing/2014/main" id="{88C92015-3B08-D90D-90F7-D72CDD934D09}"/>
                </a:ext>
              </a:extLst>
            </p:cNvPr>
            <p:cNvSpPr txBox="1"/>
            <p:nvPr/>
          </p:nvSpPr>
          <p:spPr>
            <a:xfrm>
              <a:off x="609600" y="2103120"/>
              <a:ext cx="384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7B9E6F"/>
                  </a:solidFill>
                  <a:latin typeface="Calibri"/>
                  <a:ea typeface="Calibri"/>
                  <a:cs typeface="Calibri"/>
                  <a:sym typeface="Calibri"/>
                </a:rPr>
                <a:t>Oct 2025</a:t>
              </a:r>
              <a:endParaRPr sz="2000" dirty="0"/>
            </a:p>
          </p:txBody>
        </p:sp>
        <p:sp>
          <p:nvSpPr>
            <p:cNvPr id="10" name="Google Shape;277;g3cb949e056b_13_124">
              <a:extLst>
                <a:ext uri="{FF2B5EF4-FFF2-40B4-BE49-F238E27FC236}">
                  <a16:creationId xmlns:a16="http://schemas.microsoft.com/office/drawing/2014/main" id="{2FCC3758-C35D-DCEC-43DE-A1C8446A1753}"/>
                </a:ext>
              </a:extLst>
            </p:cNvPr>
            <p:cNvSpPr/>
            <p:nvPr/>
          </p:nvSpPr>
          <p:spPr>
            <a:xfrm>
              <a:off x="822960" y="3291840"/>
              <a:ext cx="3215640" cy="6400800"/>
            </a:xfrm>
            <a:prstGeom prst="rect">
              <a:avLst/>
            </a:prstGeom>
            <a:solidFill>
              <a:srgbClr val="F5F0E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78;g3cb949e056b_13_124">
              <a:extLst>
                <a:ext uri="{FF2B5EF4-FFF2-40B4-BE49-F238E27FC236}">
                  <a16:creationId xmlns:a16="http://schemas.microsoft.com/office/drawing/2014/main" id="{FA3DD1D0-F86C-DEA7-5DD8-79C0C70B0FA5}"/>
                </a:ext>
              </a:extLst>
            </p:cNvPr>
            <p:cNvSpPr/>
            <p:nvPr/>
          </p:nvSpPr>
          <p:spPr>
            <a:xfrm>
              <a:off x="822960" y="3291840"/>
              <a:ext cx="3215640" cy="502800"/>
            </a:xfrm>
            <a:prstGeom prst="rect">
              <a:avLst/>
            </a:prstGeom>
            <a:solidFill>
              <a:srgbClr val="7B9E6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9;g3cb949e056b_13_124">
              <a:extLst>
                <a:ext uri="{FF2B5EF4-FFF2-40B4-BE49-F238E27FC236}">
                  <a16:creationId xmlns:a16="http://schemas.microsoft.com/office/drawing/2014/main" id="{945E6321-8368-4A17-24BE-04C1BA8589ED}"/>
                </a:ext>
              </a:extLst>
            </p:cNvPr>
            <p:cNvSpPr txBox="1"/>
            <p:nvPr/>
          </p:nvSpPr>
          <p:spPr>
            <a:xfrm>
              <a:off x="838200" y="3355848"/>
              <a:ext cx="32004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Foundations</a:t>
              </a:r>
              <a:endParaRPr b="1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4" name="Google Shape;280;g3cb949e056b_13_124">
              <a:extLst>
                <a:ext uri="{FF2B5EF4-FFF2-40B4-BE49-F238E27FC236}">
                  <a16:creationId xmlns:a16="http://schemas.microsoft.com/office/drawing/2014/main" id="{7E636DDF-73F0-A83D-8D73-9B69C7644806}"/>
                </a:ext>
              </a:extLst>
            </p:cNvPr>
            <p:cNvSpPr txBox="1"/>
            <p:nvPr/>
          </p:nvSpPr>
          <p:spPr>
            <a:xfrm>
              <a:off x="1051560" y="3977640"/>
              <a:ext cx="2834640" cy="4755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First commit: backend &amp; frontend repos</a:t>
              </a: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Calibri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FastAPI</a:t>
              </a:r>
              <a:r>
                <a:rPr lang="en-US" sz="14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 structure, basic endpoints</a:t>
              </a: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Calibri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React skeleton, login page</a:t>
              </a: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Calibri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PostgreSQL schema design (Neon)</a:t>
              </a: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  <a:sym typeface="Calibri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Moved from Raspberry Pi to M5Stack</a:t>
              </a:r>
              <a:br>
                <a:rPr lang="en-US" sz="2000" b="0" i="0" u="none" strike="noStrike" cap="none" dirty="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2000" dirty="0"/>
            </a:p>
          </p:txBody>
        </p:sp>
        <p:sp>
          <p:nvSpPr>
            <p:cNvPr id="15" name="Google Shape;281;g3cb949e056b_13_124">
              <a:extLst>
                <a:ext uri="{FF2B5EF4-FFF2-40B4-BE49-F238E27FC236}">
                  <a16:creationId xmlns:a16="http://schemas.microsoft.com/office/drawing/2014/main" id="{CC837BC3-9039-260A-0565-29139E027EA8}"/>
                </a:ext>
              </a:extLst>
            </p:cNvPr>
            <p:cNvSpPr/>
            <p:nvPr/>
          </p:nvSpPr>
          <p:spPr>
            <a:xfrm>
              <a:off x="6415920" y="2697480"/>
              <a:ext cx="329100" cy="329100"/>
            </a:xfrm>
            <a:prstGeom prst="ellipse">
              <a:avLst/>
            </a:prstGeom>
            <a:solidFill>
              <a:srgbClr val="5B8DB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82;g3cb949e056b_13_124">
              <a:extLst>
                <a:ext uri="{FF2B5EF4-FFF2-40B4-BE49-F238E27FC236}">
                  <a16:creationId xmlns:a16="http://schemas.microsoft.com/office/drawing/2014/main" id="{29FD7176-6011-71B4-F0A2-F580A53AAE07}"/>
                </a:ext>
              </a:extLst>
            </p:cNvPr>
            <p:cNvSpPr txBox="1"/>
            <p:nvPr/>
          </p:nvSpPr>
          <p:spPr>
            <a:xfrm>
              <a:off x="4770000" y="2103120"/>
              <a:ext cx="384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5B8DB8"/>
                  </a:solidFill>
                  <a:latin typeface="Calibri"/>
                  <a:ea typeface="Calibri"/>
                  <a:cs typeface="Calibri"/>
                  <a:sym typeface="Calibri"/>
                </a:rPr>
                <a:t>Nov 2025</a:t>
              </a:r>
              <a:endParaRPr sz="2000" dirty="0"/>
            </a:p>
          </p:txBody>
        </p:sp>
        <p:sp>
          <p:nvSpPr>
            <p:cNvPr id="17" name="Google Shape;283;g3cb949e056b_13_124">
              <a:extLst>
                <a:ext uri="{FF2B5EF4-FFF2-40B4-BE49-F238E27FC236}">
                  <a16:creationId xmlns:a16="http://schemas.microsoft.com/office/drawing/2014/main" id="{B9EA2556-F38C-8A0E-A741-5F413D57A2EA}"/>
                </a:ext>
              </a:extLst>
            </p:cNvPr>
            <p:cNvSpPr/>
            <p:nvPr/>
          </p:nvSpPr>
          <p:spPr>
            <a:xfrm>
              <a:off x="4983480" y="3291840"/>
              <a:ext cx="3200400" cy="6400800"/>
            </a:xfrm>
            <a:prstGeom prst="rect">
              <a:avLst/>
            </a:prstGeom>
            <a:solidFill>
              <a:srgbClr val="F5F0E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84;g3cb949e056b_13_124">
              <a:extLst>
                <a:ext uri="{FF2B5EF4-FFF2-40B4-BE49-F238E27FC236}">
                  <a16:creationId xmlns:a16="http://schemas.microsoft.com/office/drawing/2014/main" id="{7D76D406-AEB7-A4A7-F518-FE7C2FFA8F91}"/>
                </a:ext>
              </a:extLst>
            </p:cNvPr>
            <p:cNvSpPr/>
            <p:nvPr/>
          </p:nvSpPr>
          <p:spPr>
            <a:xfrm>
              <a:off x="4983480" y="3291840"/>
              <a:ext cx="3200400" cy="502800"/>
            </a:xfrm>
            <a:prstGeom prst="rect">
              <a:avLst/>
            </a:prstGeom>
            <a:solidFill>
              <a:srgbClr val="5B8DB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85;g3cb949e056b_13_124">
              <a:extLst>
                <a:ext uri="{FF2B5EF4-FFF2-40B4-BE49-F238E27FC236}">
                  <a16:creationId xmlns:a16="http://schemas.microsoft.com/office/drawing/2014/main" id="{38AC14CD-CD03-E7D9-366F-40F20AFF9DE9}"/>
                </a:ext>
              </a:extLst>
            </p:cNvPr>
            <p:cNvSpPr txBox="1"/>
            <p:nvPr/>
          </p:nvSpPr>
          <p:spPr>
            <a:xfrm>
              <a:off x="4953000" y="3355848"/>
              <a:ext cx="320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Hardware &amp; Core Services</a:t>
              </a:r>
              <a:endParaRPr b="1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0" name="Google Shape;286;g3cb949e056b_13_124">
              <a:extLst>
                <a:ext uri="{FF2B5EF4-FFF2-40B4-BE49-F238E27FC236}">
                  <a16:creationId xmlns:a16="http://schemas.microsoft.com/office/drawing/2014/main" id="{43176A46-838F-2B75-5F9C-0212155DFDE8}"/>
                </a:ext>
              </a:extLst>
            </p:cNvPr>
            <p:cNvSpPr txBox="1"/>
            <p:nvPr/>
          </p:nvSpPr>
          <p:spPr>
            <a:xfrm>
              <a:off x="5212080" y="3977640"/>
              <a:ext cx="3002280" cy="5262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285750" marR="0" lvl="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</a:defRPr>
              </a:lvl1pPr>
            </a:lstStyle>
            <a:p>
              <a:r>
                <a:rPr lang="en-US" dirty="0">
                  <a:sym typeface="Calibri"/>
                </a:rPr>
                <a:t>Authentication &amp; user management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DB connection, babies CRUD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Awakening event handling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Sensor data pipeline (temp, humidity, noise)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Ui implementation from phase A </a:t>
              </a:r>
              <a:r>
                <a:rPr lang="en-US" dirty="0" err="1">
                  <a:sym typeface="Calibri"/>
                </a:rPr>
                <a:t>figma</a:t>
              </a:r>
              <a:r>
                <a:rPr lang="en-US" dirty="0">
                  <a:sym typeface="Calibri"/>
                </a:rPr>
                <a:t> design + integration with react skeleton and existing backend logic</a:t>
              </a:r>
            </a:p>
            <a:p>
              <a:endParaRPr lang="en-US" dirty="0">
                <a:sym typeface="Calibri"/>
              </a:endParaRPr>
            </a:p>
            <a:p>
              <a:endParaRPr dirty="0"/>
            </a:p>
          </p:txBody>
        </p:sp>
        <p:sp>
          <p:nvSpPr>
            <p:cNvPr id="21" name="Google Shape;287;g3cb949e056b_13_124">
              <a:extLst>
                <a:ext uri="{FF2B5EF4-FFF2-40B4-BE49-F238E27FC236}">
                  <a16:creationId xmlns:a16="http://schemas.microsoft.com/office/drawing/2014/main" id="{E4CFEDC8-68F0-6E2F-4BFA-A19C17E9AB1E}"/>
                </a:ext>
              </a:extLst>
            </p:cNvPr>
            <p:cNvSpPr/>
            <p:nvPr/>
          </p:nvSpPr>
          <p:spPr>
            <a:xfrm>
              <a:off x="10606920" y="2697480"/>
              <a:ext cx="329100" cy="329100"/>
            </a:xfrm>
            <a:prstGeom prst="ellipse">
              <a:avLst/>
            </a:prstGeom>
            <a:solidFill>
              <a:srgbClr val="C48B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88;g3cb949e056b_13_124">
              <a:extLst>
                <a:ext uri="{FF2B5EF4-FFF2-40B4-BE49-F238E27FC236}">
                  <a16:creationId xmlns:a16="http://schemas.microsoft.com/office/drawing/2014/main" id="{0FCBFD4E-D602-FC88-1355-590DD55EC5FD}"/>
                </a:ext>
              </a:extLst>
            </p:cNvPr>
            <p:cNvSpPr txBox="1"/>
            <p:nvPr/>
          </p:nvSpPr>
          <p:spPr>
            <a:xfrm>
              <a:off x="8961000" y="2103120"/>
              <a:ext cx="384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C48B4A"/>
                  </a:solidFill>
                  <a:latin typeface="Calibri"/>
                  <a:ea typeface="Calibri"/>
                  <a:cs typeface="Calibri"/>
                  <a:sym typeface="Calibri"/>
                </a:rPr>
                <a:t>Dec 2025</a:t>
              </a:r>
              <a:endParaRPr sz="2000" dirty="0"/>
            </a:p>
          </p:txBody>
        </p:sp>
        <p:sp>
          <p:nvSpPr>
            <p:cNvPr id="23" name="Google Shape;289;g3cb949e056b_13_124">
              <a:extLst>
                <a:ext uri="{FF2B5EF4-FFF2-40B4-BE49-F238E27FC236}">
                  <a16:creationId xmlns:a16="http://schemas.microsoft.com/office/drawing/2014/main" id="{AA8AE7EE-ADAD-189A-7DBE-C1ED494FF2C7}"/>
                </a:ext>
              </a:extLst>
            </p:cNvPr>
            <p:cNvSpPr/>
            <p:nvPr/>
          </p:nvSpPr>
          <p:spPr>
            <a:xfrm>
              <a:off x="9144000" y="3291840"/>
              <a:ext cx="3200400" cy="6400800"/>
            </a:xfrm>
            <a:prstGeom prst="rect">
              <a:avLst/>
            </a:prstGeom>
            <a:solidFill>
              <a:srgbClr val="F5F0E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90;g3cb949e056b_13_124">
              <a:extLst>
                <a:ext uri="{FF2B5EF4-FFF2-40B4-BE49-F238E27FC236}">
                  <a16:creationId xmlns:a16="http://schemas.microsoft.com/office/drawing/2014/main" id="{F5B53348-B939-D7A6-3F0B-7B60256B8393}"/>
                </a:ext>
              </a:extLst>
            </p:cNvPr>
            <p:cNvSpPr/>
            <p:nvPr/>
          </p:nvSpPr>
          <p:spPr>
            <a:xfrm>
              <a:off x="9144000" y="3291840"/>
              <a:ext cx="3200400" cy="502800"/>
            </a:xfrm>
            <a:prstGeom prst="rect">
              <a:avLst/>
            </a:prstGeom>
            <a:solidFill>
              <a:srgbClr val="C48B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91;g3cb949e056b_13_124">
              <a:extLst>
                <a:ext uri="{FF2B5EF4-FFF2-40B4-BE49-F238E27FC236}">
                  <a16:creationId xmlns:a16="http://schemas.microsoft.com/office/drawing/2014/main" id="{5A116F85-7536-FC19-CE3E-49EC94BF81CE}"/>
                </a:ext>
              </a:extLst>
            </p:cNvPr>
            <p:cNvSpPr txBox="1"/>
            <p:nvPr/>
          </p:nvSpPr>
          <p:spPr>
            <a:xfrm>
              <a:off x="9144000" y="3355848"/>
              <a:ext cx="320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Analytics &amp; AI Integration</a:t>
              </a:r>
              <a:endParaRPr b="1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6" name="Google Shape;292;g3cb949e056b_13_124">
              <a:extLst>
                <a:ext uri="{FF2B5EF4-FFF2-40B4-BE49-F238E27FC236}">
                  <a16:creationId xmlns:a16="http://schemas.microsoft.com/office/drawing/2014/main" id="{0082E209-03C7-BA8D-B18B-F70D0E7B7146}"/>
                </a:ext>
              </a:extLst>
            </p:cNvPr>
            <p:cNvSpPr txBox="1"/>
            <p:nvPr/>
          </p:nvSpPr>
          <p:spPr>
            <a:xfrm>
              <a:off x="9372600" y="3977640"/>
              <a:ext cx="2971800" cy="5909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285750" marR="0" lvl="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</a:defRPr>
              </a:lvl1pPr>
            </a:lstStyle>
            <a:p>
              <a:r>
                <a:rPr lang="en-US" dirty="0">
                  <a:sym typeface="Calibri"/>
                </a:rPr>
                <a:t>Statistics page &amp; </a:t>
              </a:r>
              <a:r>
                <a:rPr lang="en-US" dirty="0" err="1">
                  <a:sym typeface="Calibri"/>
                </a:rPr>
                <a:t>ECharts</a:t>
              </a:r>
              <a:br>
                <a:rPr lang="en-US" dirty="0">
                  <a:sym typeface="Calibri"/>
                </a:rPr>
              </a:br>
              <a:r>
                <a:rPr lang="en-US" dirty="0">
                  <a:sym typeface="Calibri"/>
                </a:rPr>
                <a:t>Profile page, dashboard UI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Gemini AI: correlation insights &amp; chat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Trend analysis, schedule predictor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Sleep blocks, optimal stats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End-to-end integration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Verification of integration and database data insertion (both backend &amp; controller on same </a:t>
              </a:r>
              <a:r>
                <a:rPr lang="en-US" dirty="0" err="1">
                  <a:sym typeface="Calibri"/>
                </a:rPr>
                <a:t>wifi</a:t>
              </a:r>
              <a:r>
                <a:rPr lang="en-US" dirty="0">
                  <a:sym typeface="Calibri"/>
                </a:rPr>
                <a:t>)</a:t>
              </a:r>
            </a:p>
            <a:p>
              <a:endParaRPr dirty="0"/>
            </a:p>
          </p:txBody>
        </p:sp>
        <p:sp>
          <p:nvSpPr>
            <p:cNvPr id="27" name="Google Shape;293;g3cb949e056b_13_124">
              <a:extLst>
                <a:ext uri="{FF2B5EF4-FFF2-40B4-BE49-F238E27FC236}">
                  <a16:creationId xmlns:a16="http://schemas.microsoft.com/office/drawing/2014/main" id="{33B7A985-1FCA-B07E-BF5C-D05D6FE9E58B}"/>
                </a:ext>
              </a:extLst>
            </p:cNvPr>
            <p:cNvSpPr/>
            <p:nvPr/>
          </p:nvSpPr>
          <p:spPr>
            <a:xfrm>
              <a:off x="14721720" y="2697480"/>
              <a:ext cx="329100" cy="329100"/>
            </a:xfrm>
            <a:prstGeom prst="ellipse">
              <a:avLst/>
            </a:prstGeom>
            <a:solidFill>
              <a:srgbClr val="9B6B9E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94;g3cb949e056b_13_124">
              <a:extLst>
                <a:ext uri="{FF2B5EF4-FFF2-40B4-BE49-F238E27FC236}">
                  <a16:creationId xmlns:a16="http://schemas.microsoft.com/office/drawing/2014/main" id="{4C31CED1-EF2B-3A05-0C41-28C992A52130}"/>
                </a:ext>
              </a:extLst>
            </p:cNvPr>
            <p:cNvSpPr txBox="1"/>
            <p:nvPr/>
          </p:nvSpPr>
          <p:spPr>
            <a:xfrm>
              <a:off x="13075800" y="2103120"/>
              <a:ext cx="384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9B6B9E"/>
                  </a:solidFill>
                  <a:latin typeface="Calibri"/>
                  <a:ea typeface="Calibri"/>
                  <a:cs typeface="Calibri"/>
                  <a:sym typeface="Calibri"/>
                </a:rPr>
                <a:t>Jan-Feb 2026</a:t>
              </a:r>
              <a:endParaRPr sz="2000" dirty="0"/>
            </a:p>
          </p:txBody>
        </p:sp>
        <p:sp>
          <p:nvSpPr>
            <p:cNvPr id="29" name="Google Shape;295;g3cb949e056b_13_124">
              <a:extLst>
                <a:ext uri="{FF2B5EF4-FFF2-40B4-BE49-F238E27FC236}">
                  <a16:creationId xmlns:a16="http://schemas.microsoft.com/office/drawing/2014/main" id="{BDC63EA3-E25E-0E03-DBA5-5F262F83C9D9}"/>
                </a:ext>
              </a:extLst>
            </p:cNvPr>
            <p:cNvSpPr/>
            <p:nvPr/>
          </p:nvSpPr>
          <p:spPr>
            <a:xfrm>
              <a:off x="13304520" y="3291840"/>
              <a:ext cx="3200400" cy="6400800"/>
            </a:xfrm>
            <a:prstGeom prst="rect">
              <a:avLst/>
            </a:prstGeom>
            <a:solidFill>
              <a:srgbClr val="F5F0E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96;g3cb949e056b_13_124">
              <a:extLst>
                <a:ext uri="{FF2B5EF4-FFF2-40B4-BE49-F238E27FC236}">
                  <a16:creationId xmlns:a16="http://schemas.microsoft.com/office/drawing/2014/main" id="{89D5750C-4397-7AD2-E54A-086B51696650}"/>
                </a:ext>
              </a:extLst>
            </p:cNvPr>
            <p:cNvSpPr/>
            <p:nvPr/>
          </p:nvSpPr>
          <p:spPr>
            <a:xfrm>
              <a:off x="13304520" y="3291840"/>
              <a:ext cx="3200400" cy="502800"/>
            </a:xfrm>
            <a:prstGeom prst="rect">
              <a:avLst/>
            </a:prstGeom>
            <a:solidFill>
              <a:srgbClr val="9B6B9E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97;g3cb949e056b_13_124">
              <a:extLst>
                <a:ext uri="{FF2B5EF4-FFF2-40B4-BE49-F238E27FC236}">
                  <a16:creationId xmlns:a16="http://schemas.microsoft.com/office/drawing/2014/main" id="{0943EB2A-F19F-D18C-A7C0-9C8D45801CBA}"/>
                </a:ext>
              </a:extLst>
            </p:cNvPr>
            <p:cNvSpPr txBox="1"/>
            <p:nvPr/>
          </p:nvSpPr>
          <p:spPr>
            <a:xfrm>
              <a:off x="13335000" y="3355848"/>
              <a:ext cx="320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  <a:sym typeface="Calibri"/>
                </a:rPr>
                <a:t>Polish &amp; Deployment</a:t>
              </a:r>
              <a:endParaRPr b="1" dirty="0">
                <a:solidFill>
                  <a:srgbClr val="705C40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32" name="Google Shape;298;g3cb949e056b_13_124">
              <a:extLst>
                <a:ext uri="{FF2B5EF4-FFF2-40B4-BE49-F238E27FC236}">
                  <a16:creationId xmlns:a16="http://schemas.microsoft.com/office/drawing/2014/main" id="{6B0C879B-7A84-B5F0-C75D-EBCA0D84440C}"/>
                </a:ext>
              </a:extLst>
            </p:cNvPr>
            <p:cNvSpPr txBox="1"/>
            <p:nvPr/>
          </p:nvSpPr>
          <p:spPr>
            <a:xfrm>
              <a:off x="13533120" y="3977640"/>
              <a:ext cx="3002280" cy="5262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285750" marR="0" lvl="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705C40"/>
                  </a:solidFill>
                  <a:latin typeface="Inter" panose="020B0604020202020204" charset="0"/>
                  <a:ea typeface="Inter" panose="020B0604020202020204" charset="0"/>
                </a:defRPr>
              </a:lvl1pPr>
            </a:lstStyle>
            <a:p>
              <a:r>
                <a:rPr lang="en-US" dirty="0" err="1">
                  <a:sym typeface="Calibri"/>
                </a:rPr>
                <a:t>Vercel</a:t>
              </a:r>
              <a:r>
                <a:rPr lang="en-US" dirty="0">
                  <a:sym typeface="Calibri"/>
                </a:rPr>
                <a:t> deployment (frontend)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Render deployment (backend)</a:t>
              </a:r>
            </a:p>
            <a:p>
              <a:pPr marL="0" indent="0">
                <a:buNone/>
              </a:pPr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TypeScript strict mode fixes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SSE + Web Push finalization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demo video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Phase B book</a:t>
              </a:r>
            </a:p>
            <a:p>
              <a:endParaRPr lang="en-US" dirty="0">
                <a:sym typeface="Calibri"/>
              </a:endParaRPr>
            </a:p>
            <a:p>
              <a:r>
                <a:rPr lang="en-US" dirty="0">
                  <a:sym typeface="Calibri"/>
                </a:rPr>
                <a:t>Final code and submission corrections</a:t>
              </a:r>
            </a:p>
            <a:p>
              <a:endParaRPr dirty="0"/>
            </a:p>
          </p:txBody>
        </p:sp>
        <p:sp>
          <p:nvSpPr>
            <p:cNvPr id="33" name="Google Shape;299;g3cb949e056b_13_124">
              <a:extLst>
                <a:ext uri="{FF2B5EF4-FFF2-40B4-BE49-F238E27FC236}">
                  <a16:creationId xmlns:a16="http://schemas.microsoft.com/office/drawing/2014/main" id="{6E944FD1-6DE8-A788-9323-3B82105D4C91}"/>
                </a:ext>
              </a:extLst>
            </p:cNvPr>
            <p:cNvSpPr/>
            <p:nvPr/>
          </p:nvSpPr>
          <p:spPr>
            <a:xfrm>
              <a:off x="731520" y="9464040"/>
              <a:ext cx="7879080" cy="502800"/>
            </a:xfrm>
            <a:prstGeom prst="rect">
              <a:avLst/>
            </a:prstGeom>
            <a:solidFill>
              <a:srgbClr val="4A6F8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0;g3cb949e056b_13_124">
              <a:extLst>
                <a:ext uri="{FF2B5EF4-FFF2-40B4-BE49-F238E27FC236}">
                  <a16:creationId xmlns:a16="http://schemas.microsoft.com/office/drawing/2014/main" id="{3F47BB81-F34E-F491-B7A4-545B12613F82}"/>
                </a:ext>
              </a:extLst>
            </p:cNvPr>
            <p:cNvSpPr/>
            <p:nvPr/>
          </p:nvSpPr>
          <p:spPr>
            <a:xfrm>
              <a:off x="8610600" y="9464040"/>
              <a:ext cx="7924800" cy="502800"/>
            </a:xfrm>
            <a:prstGeom prst="rect">
              <a:avLst/>
            </a:prstGeom>
            <a:solidFill>
              <a:srgbClr val="4A7C5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699C9F1-803A-1A89-E069-D3BF75846954}"/>
              </a:ext>
            </a:extLst>
          </p:cNvPr>
          <p:cNvSpPr txBox="1"/>
          <p:nvPr/>
        </p:nvSpPr>
        <p:spPr>
          <a:xfrm>
            <a:off x="4288646" y="346674"/>
            <a:ext cx="9184820" cy="160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5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705C40"/>
                </a:solidFill>
                <a:effectLst/>
                <a:uLnTx/>
                <a:uFillTx/>
                <a:latin typeface="Poppins Bold"/>
                <a:ea typeface="+mn-ea"/>
                <a:cs typeface="Poppins Bold"/>
                <a:sym typeface="Poppins Bold"/>
              </a:rPr>
              <a:t>Phase B Timeline</a:t>
            </a:r>
          </a:p>
        </p:txBody>
      </p:sp>
    </p:spTree>
    <p:extLst>
      <p:ext uri="{BB962C8B-B14F-4D97-AF65-F5344CB8AC3E}">
        <p14:creationId xmlns:p14="http://schemas.microsoft.com/office/powerpoint/2010/main" val="158925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1157-9D3B-F257-397E-DA3DCD87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625726E-70A1-202D-8826-DBD282EA616B}"/>
              </a:ext>
            </a:extLst>
          </p:cNvPr>
          <p:cNvGrpSpPr/>
          <p:nvPr/>
        </p:nvGrpSpPr>
        <p:grpSpPr>
          <a:xfrm rot="16200000">
            <a:off x="4429912" y="-2930180"/>
            <a:ext cx="9133972" cy="18582210"/>
            <a:chOff x="0" y="-47625"/>
            <a:chExt cx="2429645" cy="30080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3440EC-0512-6C21-753F-37E4E4DC9690}"/>
                </a:ext>
              </a:extLst>
            </p:cNvPr>
            <p:cNvSpPr/>
            <p:nvPr/>
          </p:nvSpPr>
          <p:spPr>
            <a:xfrm>
              <a:off x="170483" y="0"/>
              <a:ext cx="2259162" cy="2960376"/>
            </a:xfrm>
            <a:custGeom>
              <a:avLst/>
              <a:gdLst/>
              <a:ahLst/>
              <a:cxnLst/>
              <a:rect l="l" t="t" r="r" b="b"/>
              <a:pathLst>
                <a:path w="2429645" h="2960376">
                  <a:moveTo>
                    <a:pt x="0" y="0"/>
                  </a:moveTo>
                  <a:lnTo>
                    <a:pt x="2429645" y="0"/>
                  </a:lnTo>
                  <a:lnTo>
                    <a:pt x="2429645" y="2960376"/>
                  </a:lnTo>
                  <a:lnTo>
                    <a:pt x="0" y="2960376"/>
                  </a:lnTo>
                  <a:close/>
                </a:path>
              </a:pathLst>
            </a:custGeom>
            <a:solidFill>
              <a:srgbClr val="EAD6B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2485C0-2AF1-6945-F954-E212B7E38C2A}"/>
                </a:ext>
              </a:extLst>
            </p:cNvPr>
            <p:cNvSpPr txBox="1"/>
            <p:nvPr/>
          </p:nvSpPr>
          <p:spPr>
            <a:xfrm>
              <a:off x="0" y="-47625"/>
              <a:ext cx="2429645" cy="3008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0E83A78-AEE0-E804-D0CB-B310E9D82560}"/>
              </a:ext>
            </a:extLst>
          </p:cNvPr>
          <p:cNvSpPr txBox="1"/>
          <p:nvPr/>
        </p:nvSpPr>
        <p:spPr>
          <a:xfrm>
            <a:off x="3502650" y="4565777"/>
            <a:ext cx="11282699" cy="2360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Demonstration </a:t>
            </a:r>
          </a:p>
          <a:p>
            <a:pPr lvl="0" algn="ctr">
              <a:lnSpc>
                <a:spcPts val="9386"/>
              </a:lnSpc>
            </a:pPr>
            <a:r>
              <a:rPr lang="en-US" sz="7000" b="1" dirty="0">
                <a:solidFill>
                  <a:srgbClr val="705C40"/>
                </a:solidFill>
                <a:latin typeface="Poppins Bold"/>
                <a:cs typeface="Poppins Bold"/>
                <a:sym typeface="Inter 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Link</a:t>
            </a:r>
            <a:endParaRPr lang="en-US" sz="7000" b="1" dirty="0">
              <a:solidFill>
                <a:srgbClr val="705C40"/>
              </a:solidFill>
              <a:latin typeface="Poppins Bold"/>
              <a:cs typeface="Poppins Bold"/>
              <a:sym typeface="Inter Bold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55095-3BEF-1A45-5B7A-7BD31D00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1ED4C1-D074-07D9-ACEB-3DCB4BEE17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69"/>
          <a:stretch>
            <a:fillRect/>
          </a:stretch>
        </p:blipFill>
        <p:spPr>
          <a:xfrm>
            <a:off x="0" y="411742"/>
            <a:ext cx="2678324" cy="206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7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3516133"/>
            <a:ext cx="16002000" cy="3338071"/>
            <a:chOff x="0" y="0"/>
            <a:chExt cx="929559" cy="879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559" cy="879163"/>
            </a:xfrm>
            <a:custGeom>
              <a:avLst/>
              <a:gdLst/>
              <a:ahLst/>
              <a:cxnLst/>
              <a:rect l="l" t="t" r="r" b="b"/>
              <a:pathLst>
                <a:path w="929559" h="879163">
                  <a:moveTo>
                    <a:pt x="0" y="0"/>
                  </a:moveTo>
                  <a:lnTo>
                    <a:pt x="929559" y="0"/>
                  </a:lnTo>
                  <a:lnTo>
                    <a:pt x="929559" y="879163"/>
                  </a:lnTo>
                  <a:lnTo>
                    <a:pt x="0" y="879163"/>
                  </a:lnTo>
                  <a:close/>
                </a:path>
              </a:pathLst>
            </a:custGeom>
            <a:solidFill>
              <a:srgbClr val="BCA3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29559" cy="92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71552" y="4402257"/>
            <a:ext cx="14744962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/>
            <a:r>
              <a:rPr lang="en-US" sz="90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Poppins Bold"/>
                <a:sym typeface="Poppins Bold"/>
              </a:rPr>
              <a:t>THANK YOU for listening!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8EFD1-C5EA-5FD1-EFB2-22873629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D8DEE0-DF65-24DC-BDE4-0EB83987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33"/>
          <a:stretch>
            <a:fillRect/>
          </a:stretch>
        </p:blipFill>
        <p:spPr>
          <a:xfrm>
            <a:off x="354551" y="0"/>
            <a:ext cx="2834886" cy="29876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CFEDB-B0D7-121D-5AB6-768DEEFF5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33"/>
          <a:stretch>
            <a:fillRect/>
          </a:stretch>
        </p:blipFill>
        <p:spPr>
          <a:xfrm rot="10800000">
            <a:off x="15163800" y="7315661"/>
            <a:ext cx="2834886" cy="2987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D36008-1E8E-83F4-0FB2-A7443B77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4" t="18482"/>
          <a:stretch>
            <a:fillRect/>
          </a:stretch>
        </p:blipFill>
        <p:spPr>
          <a:xfrm>
            <a:off x="17135313" y="0"/>
            <a:ext cx="247974" cy="59637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1561</Words>
  <Application>Microsoft Office PowerPoint</Application>
  <PresentationFormat>Custom</PresentationFormat>
  <Paragraphs>299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Poppins Bold</vt:lpstr>
      <vt:lpstr>Arial</vt:lpstr>
      <vt:lpstr>Calibri</vt:lpstr>
      <vt:lpstr>Poppins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White Simple Research Proposal Presentation</dc:title>
  <dc:creator>עופר אלזרע</dc:creator>
  <cp:lastModifiedBy>עופר אלזרע</cp:lastModifiedBy>
  <cp:revision>29</cp:revision>
  <dcterms:created xsi:type="dcterms:W3CDTF">2006-08-16T00:00:00Z</dcterms:created>
  <dcterms:modified xsi:type="dcterms:W3CDTF">2026-03-01T13:49:14Z</dcterms:modified>
  <dc:identifier>DAGselJbdPs</dc:identifier>
</cp:coreProperties>
</file>